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Lst>
  <p:notesMasterIdLst>
    <p:notesMasterId r:id="rId25"/>
  </p:notesMasterIdLst>
  <p:sldIdLst>
    <p:sldId id="256" r:id="rId2"/>
    <p:sldId id="257" r:id="rId3"/>
    <p:sldId id="258" r:id="rId4"/>
    <p:sldId id="281" r:id="rId5"/>
    <p:sldId id="259" r:id="rId6"/>
    <p:sldId id="261" r:id="rId7"/>
    <p:sldId id="283" r:id="rId8"/>
    <p:sldId id="282" r:id="rId9"/>
    <p:sldId id="264" r:id="rId10"/>
    <p:sldId id="279" r:id="rId11"/>
    <p:sldId id="277" r:id="rId12"/>
    <p:sldId id="278" r:id="rId13"/>
    <p:sldId id="280" r:id="rId14"/>
    <p:sldId id="262" r:id="rId15"/>
    <p:sldId id="273" r:id="rId16"/>
    <p:sldId id="274" r:id="rId17"/>
    <p:sldId id="275" r:id="rId18"/>
    <p:sldId id="276" r:id="rId19"/>
    <p:sldId id="265" r:id="rId20"/>
    <p:sldId id="266" r:id="rId21"/>
    <p:sldId id="267" r:id="rId22"/>
    <p:sldId id="268"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3" autoAdjust="0"/>
    <p:restoredTop sz="94660"/>
  </p:normalViewPr>
  <p:slideViewPr>
    <p:cSldViewPr snapToGrid="0">
      <p:cViewPr varScale="1">
        <p:scale>
          <a:sx n="59" d="100"/>
          <a:sy n="59" d="100"/>
        </p:scale>
        <p:origin x="11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Priya%20Dhari%20Singh\Downloads\NorthEast_Population%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Priya%20Dhari%20Singh\Downloads\NorthEast_Population%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Priya%20Dhari%20Singh\Downloads\NorthEast_Population%2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Priya%20Dhari%20Singh\Downloads\NorthEast_Population%2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Priya%20Dhari%20Singh\Downloads\NorthEast_Population%20(1).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Gender</a:t>
            </a:r>
            <a:r>
              <a:rPr lang="en-US" baseline="0"/>
              <a:t> Distribution of Cancer Cases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'Final Calc'!$I$4</c:f>
              <c:strCache>
                <c:ptCount val="1"/>
                <c:pt idx="0">
                  <c:v>Total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775A-437A-8920-07DB716E526D}"/>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775A-437A-8920-07DB716E526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'Final Calc'!$H$5:$H$6</c:f>
              <c:strCache>
                <c:ptCount val="2"/>
                <c:pt idx="0">
                  <c:v>Males</c:v>
                </c:pt>
                <c:pt idx="1">
                  <c:v>Females</c:v>
                </c:pt>
              </c:strCache>
            </c:strRef>
          </c:cat>
          <c:val>
            <c:numRef>
              <c:f>'Final Calc'!$I$5:$I$6</c:f>
              <c:numCache>
                <c:formatCode>General</c:formatCode>
                <c:ptCount val="2"/>
                <c:pt idx="0">
                  <c:v>152100186</c:v>
                </c:pt>
                <c:pt idx="1">
                  <c:v>142916569</c:v>
                </c:pt>
              </c:numCache>
            </c:numRef>
          </c:val>
          <c:extLst>
            <c:ext xmlns:c16="http://schemas.microsoft.com/office/drawing/2014/chart" uri="{C3380CC4-5D6E-409C-BE32-E72D297353CC}">
              <c16:uniqueId val="{00000004-775A-437A-8920-07DB716E526D}"/>
            </c:ext>
          </c:extLst>
        </c:ser>
        <c:dLbls>
          <c:dLblPos val="outEnd"/>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Zonal</a:t>
            </a:r>
            <a:r>
              <a:rPr lang="en-US" baseline="0"/>
              <a:t> Variation of Cancer Cases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'Final Calc'!$E$4</c:f>
              <c:strCache>
                <c:ptCount val="1"/>
                <c:pt idx="0">
                  <c:v>Total</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Calc'!$B$5:$B$10</c:f>
              <c:strCache>
                <c:ptCount val="6"/>
                <c:pt idx="0">
                  <c:v>Central Zone</c:v>
                </c:pt>
                <c:pt idx="1">
                  <c:v>East Zone</c:v>
                </c:pt>
                <c:pt idx="2">
                  <c:v>North East Zone</c:v>
                </c:pt>
                <c:pt idx="3">
                  <c:v>North Zone</c:v>
                </c:pt>
                <c:pt idx="4">
                  <c:v>South Zone</c:v>
                </c:pt>
                <c:pt idx="5">
                  <c:v>West Zone</c:v>
                </c:pt>
              </c:strCache>
            </c:strRef>
          </c:cat>
          <c:val>
            <c:numRef>
              <c:f>'Final Calc'!$E$5:$E$10</c:f>
              <c:numCache>
                <c:formatCode>General</c:formatCode>
                <c:ptCount val="6"/>
                <c:pt idx="0">
                  <c:v>8250852</c:v>
                </c:pt>
                <c:pt idx="1">
                  <c:v>17908319</c:v>
                </c:pt>
                <c:pt idx="2">
                  <c:v>54540323</c:v>
                </c:pt>
                <c:pt idx="3">
                  <c:v>62888079</c:v>
                </c:pt>
                <c:pt idx="4">
                  <c:v>62051644</c:v>
                </c:pt>
                <c:pt idx="5">
                  <c:v>89377538</c:v>
                </c:pt>
              </c:numCache>
            </c:numRef>
          </c:val>
          <c:extLst>
            <c:ext xmlns:c16="http://schemas.microsoft.com/office/drawing/2014/chart" uri="{C3380CC4-5D6E-409C-BE32-E72D297353CC}">
              <c16:uniqueId val="{00000000-A833-4906-8BB0-F6C89F89C995}"/>
            </c:ext>
          </c:extLst>
        </c:ser>
        <c:dLbls>
          <c:dLblPos val="outEnd"/>
          <c:showLegendKey val="0"/>
          <c:showVal val="1"/>
          <c:showCatName val="0"/>
          <c:showSerName val="0"/>
          <c:showPercent val="0"/>
          <c:showBubbleSize val="0"/>
        </c:dLbls>
        <c:gapWidth val="219"/>
        <c:axId val="722897920"/>
        <c:axId val="722928640"/>
      </c:barChart>
      <c:catAx>
        <c:axId val="72289792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Zones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2928640"/>
        <c:crosses val="autoZero"/>
        <c:auto val="1"/>
        <c:lblAlgn val="ctr"/>
        <c:lblOffset val="100"/>
        <c:noMultiLvlLbl val="0"/>
      </c:catAx>
      <c:valAx>
        <c:axId val="722928640"/>
        <c:scaling>
          <c:orientation val="minMax"/>
        </c:scaling>
        <c:delete val="1"/>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a:t>
                </a:r>
                <a:r>
                  <a:rPr lang="en-US" baseline="0"/>
                  <a:t> Cancer Cases</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7228979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Age</a:t>
            </a:r>
            <a:r>
              <a:rPr lang="en-US" baseline="0"/>
              <a:t> distribution of Cancer Cases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2">
                <a:lumMod val="60000"/>
                <a:lumOff val="40000"/>
              </a:schemeClr>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Calc'!$H$28:$H$43</c:f>
              <c:strCache>
                <c:ptCount val="16"/>
                <c:pt idx="0">
                  <c:v>00-04</c:v>
                </c:pt>
                <c:pt idx="1">
                  <c:v>05-09</c:v>
                </c:pt>
                <c:pt idx="2">
                  <c:v>10-14</c:v>
                </c:pt>
                <c:pt idx="3">
                  <c:v>15-19</c:v>
                </c:pt>
                <c:pt idx="4">
                  <c:v>20-24</c:v>
                </c:pt>
                <c:pt idx="5">
                  <c:v>25-29</c:v>
                </c:pt>
                <c:pt idx="6">
                  <c:v>30-34</c:v>
                </c:pt>
                <c:pt idx="7">
                  <c:v>35-39</c:v>
                </c:pt>
                <c:pt idx="8">
                  <c:v>40-44</c:v>
                </c:pt>
                <c:pt idx="9">
                  <c:v>45-49</c:v>
                </c:pt>
                <c:pt idx="10">
                  <c:v>50-54</c:v>
                </c:pt>
                <c:pt idx="11">
                  <c:v>55-59</c:v>
                </c:pt>
                <c:pt idx="12">
                  <c:v>60-64</c:v>
                </c:pt>
                <c:pt idx="13">
                  <c:v>65-69</c:v>
                </c:pt>
                <c:pt idx="14">
                  <c:v>70-74</c:v>
                </c:pt>
                <c:pt idx="15">
                  <c:v>75+</c:v>
                </c:pt>
              </c:strCache>
              <c:extLst/>
            </c:strRef>
          </c:cat>
          <c:val>
            <c:numRef>
              <c:f>'Final Calc'!$I$28:$I$43</c:f>
              <c:numCache>
                <c:formatCode>General</c:formatCode>
                <c:ptCount val="16"/>
                <c:pt idx="0">
                  <c:v>23456241</c:v>
                </c:pt>
                <c:pt idx="1">
                  <c:v>24373027</c:v>
                </c:pt>
                <c:pt idx="2">
                  <c:v>25635098.5</c:v>
                </c:pt>
                <c:pt idx="3">
                  <c:v>26876491</c:v>
                </c:pt>
                <c:pt idx="4">
                  <c:v>30442587</c:v>
                </c:pt>
                <c:pt idx="5">
                  <c:v>29320648.5</c:v>
                </c:pt>
                <c:pt idx="6">
                  <c:v>25468697</c:v>
                </c:pt>
                <c:pt idx="7">
                  <c:v>23097636</c:v>
                </c:pt>
                <c:pt idx="8">
                  <c:v>19860908</c:v>
                </c:pt>
                <c:pt idx="9">
                  <c:v>17065502.5</c:v>
                </c:pt>
                <c:pt idx="10">
                  <c:v>13595898</c:v>
                </c:pt>
                <c:pt idx="11">
                  <c:v>10586263.5</c:v>
                </c:pt>
                <c:pt idx="12">
                  <c:v>8912146</c:v>
                </c:pt>
                <c:pt idx="13">
                  <c:v>5981238</c:v>
                </c:pt>
                <c:pt idx="14">
                  <c:v>4558818.5</c:v>
                </c:pt>
                <c:pt idx="15">
                  <c:v>5785554.5</c:v>
                </c:pt>
              </c:numCache>
              <c:extLst/>
            </c:numRef>
          </c:val>
          <c:extLst>
            <c:ext xmlns:c16="http://schemas.microsoft.com/office/drawing/2014/chart" uri="{C3380CC4-5D6E-409C-BE32-E72D297353CC}">
              <c16:uniqueId val="{00000000-9FB5-410B-B066-110B34B01C4A}"/>
            </c:ext>
          </c:extLst>
        </c:ser>
        <c:dLbls>
          <c:dLblPos val="outEnd"/>
          <c:showLegendKey val="0"/>
          <c:showVal val="1"/>
          <c:showCatName val="0"/>
          <c:showSerName val="0"/>
          <c:showPercent val="0"/>
          <c:showBubbleSize val="0"/>
        </c:dLbls>
        <c:gapWidth val="0"/>
        <c:overlap val="-27"/>
        <c:axId val="722953600"/>
        <c:axId val="722937760"/>
      </c:barChart>
      <c:catAx>
        <c:axId val="7229536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Age</a:t>
                </a:r>
                <a:r>
                  <a:rPr lang="en-US" baseline="0"/>
                  <a:t> Range</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2937760"/>
        <c:crosses val="autoZero"/>
        <c:auto val="1"/>
        <c:lblAlgn val="ctr"/>
        <c:lblOffset val="100"/>
        <c:noMultiLvlLbl val="0"/>
      </c:catAx>
      <c:valAx>
        <c:axId val="722937760"/>
        <c:scaling>
          <c:orientation val="minMax"/>
        </c:scaling>
        <c:delete val="1"/>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a:t>
                </a:r>
                <a:r>
                  <a:rPr lang="en-US" baseline="0"/>
                  <a:t> Cancer Cases</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7229536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Gender</a:t>
            </a:r>
            <a:r>
              <a:rPr lang="en-US" baseline="0"/>
              <a:t> Distribution of Cancer Cases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outEnd"/>
          <c:showLegendKey val="0"/>
          <c:showVal val="1"/>
          <c:showCatName val="0"/>
          <c:showSerName val="0"/>
          <c:showPercent val="0"/>
          <c:showBubbleSize val="0"/>
          <c:showLeaderLines val="0"/>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a:t>
            </a:r>
            <a:r>
              <a:rPr lang="en-US" baseline="0"/>
              <a:t> Gender wise Cases in Each Zone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'Final Calc'!$C$4</c:f>
              <c:strCache>
                <c:ptCount val="1"/>
                <c:pt idx="0">
                  <c:v>Males</c:v>
                </c:pt>
              </c:strCache>
            </c:strRef>
          </c:tx>
          <c:spPr>
            <a:solidFill>
              <a:schemeClr val="accent1"/>
            </a:solidFill>
            <a:ln>
              <a:noFill/>
            </a:ln>
            <a:effectLst/>
          </c:spPr>
          <c:invertIfNegative val="0"/>
          <c:dLbls>
            <c:dLbl>
              <c:idx val="3"/>
              <c:layout>
                <c:manualLayout>
                  <c:x val="-1.0185067526415994E-16"/>
                  <c:y val="9.259259259259258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299-4F03-9C1E-76928832FA4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Calc'!$B$5:$B$10</c:f>
              <c:strCache>
                <c:ptCount val="6"/>
                <c:pt idx="0">
                  <c:v>Central Zone</c:v>
                </c:pt>
                <c:pt idx="1">
                  <c:v>East Zone</c:v>
                </c:pt>
                <c:pt idx="2">
                  <c:v>North East Zone</c:v>
                </c:pt>
                <c:pt idx="3">
                  <c:v>North Zone</c:v>
                </c:pt>
                <c:pt idx="4">
                  <c:v>South Zone</c:v>
                </c:pt>
                <c:pt idx="5">
                  <c:v>West Zone</c:v>
                </c:pt>
              </c:strCache>
            </c:strRef>
          </c:cat>
          <c:val>
            <c:numRef>
              <c:f>'Final Calc'!$C$5:$C$10</c:f>
              <c:numCache>
                <c:formatCode>General</c:formatCode>
                <c:ptCount val="6"/>
                <c:pt idx="0">
                  <c:v>4280917</c:v>
                </c:pt>
                <c:pt idx="1">
                  <c:v>9270946</c:v>
                </c:pt>
                <c:pt idx="2">
                  <c:v>27541445</c:v>
                </c:pt>
                <c:pt idx="3">
                  <c:v>32929570</c:v>
                </c:pt>
                <c:pt idx="4">
                  <c:v>31641265</c:v>
                </c:pt>
                <c:pt idx="5">
                  <c:v>46436043</c:v>
                </c:pt>
              </c:numCache>
            </c:numRef>
          </c:val>
          <c:extLst>
            <c:ext xmlns:c16="http://schemas.microsoft.com/office/drawing/2014/chart" uri="{C3380CC4-5D6E-409C-BE32-E72D297353CC}">
              <c16:uniqueId val="{00000001-E299-4F03-9C1E-76928832FA4C}"/>
            </c:ext>
          </c:extLst>
        </c:ser>
        <c:ser>
          <c:idx val="1"/>
          <c:order val="1"/>
          <c:tx>
            <c:strRef>
              <c:f>'Final Calc'!$D$4</c:f>
              <c:strCache>
                <c:ptCount val="1"/>
                <c:pt idx="0">
                  <c:v>Females</c:v>
                </c:pt>
              </c:strCache>
            </c:strRef>
          </c:tx>
          <c:spPr>
            <a:solidFill>
              <a:schemeClr val="accent2"/>
            </a:solidFill>
            <a:ln>
              <a:noFill/>
            </a:ln>
            <a:effectLst/>
          </c:spPr>
          <c:invertIfNegative val="0"/>
          <c:dLbls>
            <c:dLbl>
              <c:idx val="0"/>
              <c:layout>
                <c:manualLayout>
                  <c:x val="0"/>
                  <c:y val="-7.8703703703703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299-4F03-9C1E-76928832FA4C}"/>
                </c:ext>
              </c:extLst>
            </c:dLbl>
            <c:dLbl>
              <c:idx val="1"/>
              <c:layout>
                <c:manualLayout>
                  <c:x val="0"/>
                  <c:y val="-6.94444444444444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299-4F03-9C1E-76928832FA4C}"/>
                </c:ext>
              </c:extLst>
            </c:dLbl>
            <c:dLbl>
              <c:idx val="2"/>
              <c:layout>
                <c:manualLayout>
                  <c:x val="-5.0925337632079971E-17"/>
                  <c:y val="-7.40740740740741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299-4F03-9C1E-76928832FA4C}"/>
                </c:ext>
              </c:extLst>
            </c:dLbl>
            <c:dLbl>
              <c:idx val="3"/>
              <c:layout>
                <c:manualLayout>
                  <c:x val="5.5555555555555558E-3"/>
                  <c:y val="-9.259259259259262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299-4F03-9C1E-76928832FA4C}"/>
                </c:ext>
              </c:extLst>
            </c:dLbl>
            <c:dLbl>
              <c:idx val="4"/>
              <c:layout>
                <c:manualLayout>
                  <c:x val="0"/>
                  <c:y val="-7.87037037037037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299-4F03-9C1E-76928832FA4C}"/>
                </c:ext>
              </c:extLst>
            </c:dLbl>
            <c:dLbl>
              <c:idx val="5"/>
              <c:layout>
                <c:manualLayout>
                  <c:x val="-1.0185067526415994E-16"/>
                  <c:y val="-0.10185185185185185"/>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299-4F03-9C1E-76928832FA4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Calc'!$B$5:$B$10</c:f>
              <c:strCache>
                <c:ptCount val="6"/>
                <c:pt idx="0">
                  <c:v>Central Zone</c:v>
                </c:pt>
                <c:pt idx="1">
                  <c:v>East Zone</c:v>
                </c:pt>
                <c:pt idx="2">
                  <c:v>North East Zone</c:v>
                </c:pt>
                <c:pt idx="3">
                  <c:v>North Zone</c:v>
                </c:pt>
                <c:pt idx="4">
                  <c:v>South Zone</c:v>
                </c:pt>
                <c:pt idx="5">
                  <c:v>West Zone</c:v>
                </c:pt>
              </c:strCache>
            </c:strRef>
          </c:cat>
          <c:val>
            <c:numRef>
              <c:f>'Final Calc'!$D$5:$D$10</c:f>
              <c:numCache>
                <c:formatCode>General</c:formatCode>
                <c:ptCount val="6"/>
                <c:pt idx="0">
                  <c:v>3969935</c:v>
                </c:pt>
                <c:pt idx="1">
                  <c:v>8637373</c:v>
                </c:pt>
                <c:pt idx="2">
                  <c:v>26998878</c:v>
                </c:pt>
                <c:pt idx="3">
                  <c:v>29958509</c:v>
                </c:pt>
                <c:pt idx="4">
                  <c:v>30410379</c:v>
                </c:pt>
                <c:pt idx="5">
                  <c:v>42941495</c:v>
                </c:pt>
              </c:numCache>
            </c:numRef>
          </c:val>
          <c:extLst>
            <c:ext xmlns:c16="http://schemas.microsoft.com/office/drawing/2014/chart" uri="{C3380CC4-5D6E-409C-BE32-E72D297353CC}">
              <c16:uniqueId val="{00000008-E299-4F03-9C1E-76928832FA4C}"/>
            </c:ext>
          </c:extLst>
        </c:ser>
        <c:dLbls>
          <c:dLblPos val="outEnd"/>
          <c:showLegendKey val="0"/>
          <c:showVal val="1"/>
          <c:showCatName val="0"/>
          <c:showSerName val="0"/>
          <c:showPercent val="0"/>
          <c:showBubbleSize val="0"/>
        </c:dLbls>
        <c:gapWidth val="219"/>
        <c:overlap val="-27"/>
        <c:axId val="481336336"/>
        <c:axId val="481330576"/>
      </c:barChart>
      <c:catAx>
        <c:axId val="4813363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Zones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1330576"/>
        <c:crosses val="autoZero"/>
        <c:auto val="1"/>
        <c:lblAlgn val="ctr"/>
        <c:lblOffset val="100"/>
        <c:noMultiLvlLbl val="0"/>
      </c:catAx>
      <c:valAx>
        <c:axId val="481330576"/>
        <c:scaling>
          <c:orientation val="minMax"/>
        </c:scaling>
        <c:delete val="1"/>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 Cancer Cases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481336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B7C3D9-F87C-482F-8FBD-0EF025A2D5B2}" type="datetimeFigureOut">
              <a:rPr lang="en-US" smtClean="0"/>
              <a:t>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08527C-918A-4129-8D89-CAF3E477B684}" type="slidenum">
              <a:rPr lang="en-US" smtClean="0"/>
              <a:t>‹#›</a:t>
            </a:fld>
            <a:endParaRPr lang="en-US"/>
          </a:p>
        </p:txBody>
      </p:sp>
    </p:spTree>
    <p:extLst>
      <p:ext uri="{BB962C8B-B14F-4D97-AF65-F5344CB8AC3E}">
        <p14:creationId xmlns:p14="http://schemas.microsoft.com/office/powerpoint/2010/main" val="924018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08527C-918A-4129-8D89-CAF3E477B684}" type="slidenum">
              <a:rPr lang="en-US" smtClean="0"/>
              <a:t>19</a:t>
            </a:fld>
            <a:endParaRPr lang="en-US"/>
          </a:p>
        </p:txBody>
      </p:sp>
    </p:spTree>
    <p:extLst>
      <p:ext uri="{BB962C8B-B14F-4D97-AF65-F5344CB8AC3E}">
        <p14:creationId xmlns:p14="http://schemas.microsoft.com/office/powerpoint/2010/main" val="4019585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87767-ADCE-C9CE-0B99-C06239DF45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584F1A-D655-262A-6DBE-19BB1B6DD1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D9FD8E-222F-0968-753B-4D38FFE359F4}"/>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5" name="Footer Placeholder 4">
            <a:extLst>
              <a:ext uri="{FF2B5EF4-FFF2-40B4-BE49-F238E27FC236}">
                <a16:creationId xmlns:a16="http://schemas.microsoft.com/office/drawing/2014/main" id="{B90F1ED9-292E-AC37-5F27-84EEA08DE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B1B53-D2A6-19FF-2F49-212985F20032}"/>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3287272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4B15E-2524-4A9D-0936-7E282AF17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600E6C-E569-5A95-099A-84DD3EB56A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40299-0C1A-1A43-42DF-B564C092C0CA}"/>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5" name="Footer Placeholder 4">
            <a:extLst>
              <a:ext uri="{FF2B5EF4-FFF2-40B4-BE49-F238E27FC236}">
                <a16:creationId xmlns:a16="http://schemas.microsoft.com/office/drawing/2014/main" id="{669387C0-2DB8-82DD-C500-826112E623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BA5C5-62C1-09E4-99D5-259EB2F22A95}"/>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1891559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D937F-E55E-2B19-C53A-7D98B03772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55DE46-868E-DA75-952B-301D3C48A2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E560A4-CBA3-EC00-3B67-EE1EB4F83CE8}"/>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5" name="Footer Placeholder 4">
            <a:extLst>
              <a:ext uri="{FF2B5EF4-FFF2-40B4-BE49-F238E27FC236}">
                <a16:creationId xmlns:a16="http://schemas.microsoft.com/office/drawing/2014/main" id="{AC63A649-09AE-7542-7DBB-B009F2413F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5F388-F16C-C8C9-8C81-405A5E308DA0}"/>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515271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A3356-AE5C-222F-971C-2E2F6A4B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D368AE-2B51-DC3D-BE03-73A8A699DD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7DE7E3-E9D3-96D9-58D1-925EC14777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0607F9-52A3-868B-5B31-8A34AFFAE82C}"/>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6" name="Footer Placeholder 5">
            <a:extLst>
              <a:ext uri="{FF2B5EF4-FFF2-40B4-BE49-F238E27FC236}">
                <a16:creationId xmlns:a16="http://schemas.microsoft.com/office/drawing/2014/main" id="{EFEB0737-0820-799E-281F-4DBC73388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6963F0-862A-F3AD-576F-4EE3F0833F64}"/>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992000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3F79-791C-1AED-A394-0EC1AB5F2F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65F647-6A73-857D-02AE-5796E7448C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083C7C-B2A8-D78A-0036-1364EA84DB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882672-B80A-F291-DEC2-A18873C3A4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79DC0-E590-252B-7F07-A74DDCAD62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251FCB-33D3-43F2-79F5-8A7CEB014A1B}"/>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8" name="Footer Placeholder 7">
            <a:extLst>
              <a:ext uri="{FF2B5EF4-FFF2-40B4-BE49-F238E27FC236}">
                <a16:creationId xmlns:a16="http://schemas.microsoft.com/office/drawing/2014/main" id="{8C6A763C-DDC4-B34A-3387-648228CFB8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DE87E3-7D1E-3E90-3626-DF298BD8B7AE}"/>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1358015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F5251-B23B-484D-0D4A-041D46D561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B83565-F3E1-1745-23D3-739DF5464E82}"/>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4" name="Footer Placeholder 3">
            <a:extLst>
              <a:ext uri="{FF2B5EF4-FFF2-40B4-BE49-F238E27FC236}">
                <a16:creationId xmlns:a16="http://schemas.microsoft.com/office/drawing/2014/main" id="{700354BE-4964-D203-3648-2F0F929581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961A64-48D8-C967-280F-C8D61A8FD2C9}"/>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1092116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68E17B-76BA-6ECF-EA73-C091C1F45371}"/>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3" name="Footer Placeholder 2">
            <a:extLst>
              <a:ext uri="{FF2B5EF4-FFF2-40B4-BE49-F238E27FC236}">
                <a16:creationId xmlns:a16="http://schemas.microsoft.com/office/drawing/2014/main" id="{BE0426CC-90EA-5D7F-6705-6A35F30BCF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625642-11A7-7B68-431B-DCA1278C6E2C}"/>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1772008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FCD87-5177-4451-9CEA-FB357F1476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26640E-6908-B915-4D6C-C56B6E03A1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0B10B1-0E0F-E6CB-40DE-745EC68F31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B84EB4-6571-7DD3-6C27-6195C1618920}"/>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6" name="Footer Placeholder 5">
            <a:extLst>
              <a:ext uri="{FF2B5EF4-FFF2-40B4-BE49-F238E27FC236}">
                <a16:creationId xmlns:a16="http://schemas.microsoft.com/office/drawing/2014/main" id="{4071A39D-0E2E-C471-048C-002CBAE516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E4ABF9-313D-5FF8-0A6B-0B783DAF1C6A}"/>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3790394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93AF-0E35-D0E6-1492-F923094680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8F9149-9E25-8E09-F779-19D1061CFA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19E860-0BA6-5C72-AAC1-74285340C5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8F1C1-BE91-28C7-345A-1EC272605037}"/>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6" name="Footer Placeholder 5">
            <a:extLst>
              <a:ext uri="{FF2B5EF4-FFF2-40B4-BE49-F238E27FC236}">
                <a16:creationId xmlns:a16="http://schemas.microsoft.com/office/drawing/2014/main" id="{FA21604A-9985-5DA0-54B1-ED69E23B78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17DDC3-DCFE-B38F-D4C7-7ED44359ABF7}"/>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2038514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875AE-4AF3-9BB7-8FA9-9CE4B3790F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A51BCB-B405-5BBB-4B23-156A497BC1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F602F-097B-52BC-0E58-7E129FA2C740}"/>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5" name="Footer Placeholder 4">
            <a:extLst>
              <a:ext uri="{FF2B5EF4-FFF2-40B4-BE49-F238E27FC236}">
                <a16:creationId xmlns:a16="http://schemas.microsoft.com/office/drawing/2014/main" id="{33F799B7-4C40-A568-D275-9298AC593F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4C6AAF-0E94-F097-A71C-91FEDD1F1B7E}"/>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4107520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138A90-AD5A-E931-0E82-5C4BC8803D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FA8124-6402-F715-4E70-D457DBFDAC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C65F6D-D1CC-8E80-5A64-835CB9C75749}"/>
              </a:ext>
            </a:extLst>
          </p:cNvPr>
          <p:cNvSpPr>
            <a:spLocks noGrp="1"/>
          </p:cNvSpPr>
          <p:nvPr>
            <p:ph type="dt" sz="half" idx="10"/>
          </p:nvPr>
        </p:nvSpPr>
        <p:spPr/>
        <p:txBody>
          <a:bodyPr/>
          <a:lstStyle/>
          <a:p>
            <a:fld id="{D4B540D1-03E3-40B2-A1D8-CDACACB20167}" type="datetimeFigureOut">
              <a:rPr lang="en-US" smtClean="0"/>
              <a:t>1/6/2026</a:t>
            </a:fld>
            <a:endParaRPr lang="en-US"/>
          </a:p>
        </p:txBody>
      </p:sp>
      <p:sp>
        <p:nvSpPr>
          <p:cNvPr id="5" name="Footer Placeholder 4">
            <a:extLst>
              <a:ext uri="{FF2B5EF4-FFF2-40B4-BE49-F238E27FC236}">
                <a16:creationId xmlns:a16="http://schemas.microsoft.com/office/drawing/2014/main" id="{C7537CEA-3B76-9AB7-44F8-0A505262E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230F8B-3010-056F-A79E-D10F6481793E}"/>
              </a:ext>
            </a:extLst>
          </p:cNvPr>
          <p:cNvSpPr>
            <a:spLocks noGrp="1"/>
          </p:cNvSpPr>
          <p:nvPr>
            <p:ph type="sldNum" sz="quarter" idx="12"/>
          </p:nvPr>
        </p:nvSpPr>
        <p:spPr/>
        <p:txBody>
          <a:bodyPr/>
          <a:lstStyle/>
          <a:p>
            <a:fld id="{3B53CB9E-EB67-48F5-8D10-37326E47F8A4}" type="slidenum">
              <a:rPr lang="en-US" smtClean="0"/>
              <a:t>‹#›</a:t>
            </a:fld>
            <a:endParaRPr lang="en-US"/>
          </a:p>
        </p:txBody>
      </p:sp>
    </p:spTree>
    <p:extLst>
      <p:ext uri="{BB962C8B-B14F-4D97-AF65-F5344CB8AC3E}">
        <p14:creationId xmlns:p14="http://schemas.microsoft.com/office/powerpoint/2010/main" val="3938132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569792-951E-45D1-B236-3A53DBEAC9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49308D-7C42-A9EE-B882-739981880E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4142E-414D-74D0-B2B2-29D77003AD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B540D1-03E3-40B2-A1D8-CDACACB20167}" type="datetimeFigureOut">
              <a:rPr lang="en-US" smtClean="0"/>
              <a:t>1/6/2026</a:t>
            </a:fld>
            <a:endParaRPr lang="en-US"/>
          </a:p>
        </p:txBody>
      </p:sp>
      <p:sp>
        <p:nvSpPr>
          <p:cNvPr id="5" name="Footer Placeholder 4">
            <a:extLst>
              <a:ext uri="{FF2B5EF4-FFF2-40B4-BE49-F238E27FC236}">
                <a16:creationId xmlns:a16="http://schemas.microsoft.com/office/drawing/2014/main" id="{2493CDEC-C6F7-781E-9101-0ACBB05D83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DF9EB93-23DF-6880-79CA-A25BED2045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53CB9E-EB67-48F5-8D10-37326E47F8A4}" type="slidenum">
              <a:rPr lang="en-US" smtClean="0"/>
              <a:t>‹#›</a:t>
            </a:fld>
            <a:endParaRPr lang="en-US"/>
          </a:p>
        </p:txBody>
      </p:sp>
    </p:spTree>
    <p:extLst>
      <p:ext uri="{BB962C8B-B14F-4D97-AF65-F5344CB8AC3E}">
        <p14:creationId xmlns:p14="http://schemas.microsoft.com/office/powerpoint/2010/main" val="2638611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pmc.ncbi.nlm.nih.gov/articles/PMC12368690/" TargetMode="External"/><Relationship Id="rId2" Type="http://schemas.openxmlformats.org/officeDocument/2006/relationships/hyperlink" Target="https://ncdirindia.org/All_Reports/" TargetMode="Externa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701C55-ADEE-2599-BCB8-3B870F7BE2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1436"/>
          </a:xfrm>
          <a:prstGeom prst="rect">
            <a:avLst/>
          </a:prstGeom>
        </p:spPr>
      </p:pic>
    </p:spTree>
    <p:extLst>
      <p:ext uri="{BB962C8B-B14F-4D97-AF65-F5344CB8AC3E}">
        <p14:creationId xmlns:p14="http://schemas.microsoft.com/office/powerpoint/2010/main" val="3861798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D49DB-FF22-1B30-FB10-9A85C2D058F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AC4E4EA-5743-8F54-5E95-30CDB742DC9A}"/>
              </a:ext>
            </a:extLst>
          </p:cNvPr>
          <p:cNvPicPr>
            <a:picLocks noChangeAspect="1"/>
          </p:cNvPicPr>
          <p:nvPr/>
        </p:nvPicPr>
        <p:blipFill>
          <a:blip r:embed="rId2">
            <a:alphaModFix amt="76000"/>
            <a:duotone>
              <a:schemeClr val="accent1">
                <a:shade val="45000"/>
                <a:satMod val="135000"/>
              </a:schemeClr>
              <a:prstClr val="white"/>
            </a:duotone>
            <a:extLst>
              <a:ext uri="{28A0092B-C50C-407E-A947-70E740481C1C}">
                <a14:useLocalDpi xmlns:a14="http://schemas.microsoft.com/office/drawing/2010/main" val="0"/>
              </a:ext>
            </a:extLst>
          </a:blip>
          <a:srcRect l="3105" t="1434" r="2006" b="1506"/>
          <a:stretch>
            <a:fillRect/>
          </a:stretch>
        </p:blipFill>
        <p:spPr>
          <a:xfrm>
            <a:off x="0" y="0"/>
            <a:ext cx="12192000" cy="6924483"/>
          </a:xfrm>
          <a:prstGeom prst="rect">
            <a:avLst/>
          </a:prstGeom>
          <a:effectLst>
            <a:outerShdw blurRad="1270000" dist="736600" dir="5400000" sx="78000" sy="78000" algn="ctr" rotWithShape="0">
              <a:srgbClr val="000000">
                <a:alpha val="0"/>
              </a:srgbClr>
            </a:outerShdw>
          </a:effectLst>
        </p:spPr>
      </p:pic>
      <p:sp>
        <p:nvSpPr>
          <p:cNvPr id="8" name="TextBox 7">
            <a:extLst>
              <a:ext uri="{FF2B5EF4-FFF2-40B4-BE49-F238E27FC236}">
                <a16:creationId xmlns:a16="http://schemas.microsoft.com/office/drawing/2014/main" id="{7018420E-A47D-0FC2-7827-F0173E4DBADB}"/>
              </a:ext>
            </a:extLst>
          </p:cNvPr>
          <p:cNvSpPr txBox="1"/>
          <p:nvPr/>
        </p:nvSpPr>
        <p:spPr>
          <a:xfrm>
            <a:off x="806245" y="1523999"/>
            <a:ext cx="9792929" cy="2831544"/>
          </a:xfrm>
          <a:prstGeom prst="rect">
            <a:avLst/>
          </a:prstGeom>
          <a:noFill/>
        </p:spPr>
        <p:txBody>
          <a:bodyPr wrap="square" rtlCol="0">
            <a:spAutoFit/>
          </a:bodyPr>
          <a:lstStyle/>
          <a:p>
            <a:r>
              <a:rPr lang="en-US" sz="6600" dirty="0"/>
              <a:t>EXPLORING CANCER TRENDS IN INDIA</a:t>
            </a:r>
          </a:p>
          <a:p>
            <a:endParaRPr lang="en-US" dirty="0"/>
          </a:p>
          <a:p>
            <a:r>
              <a:rPr lang="en-US" sz="2800" b="1" dirty="0"/>
              <a:t>A STATISTICAL APPROACH TO GENDER AND ZONAL VARIATIONS</a:t>
            </a:r>
          </a:p>
        </p:txBody>
      </p:sp>
    </p:spTree>
    <p:extLst>
      <p:ext uri="{BB962C8B-B14F-4D97-AF65-F5344CB8AC3E}">
        <p14:creationId xmlns:p14="http://schemas.microsoft.com/office/powerpoint/2010/main" val="3707478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AFDE2-EBAA-D15B-A496-95C8742C4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B70CE-70FE-63BE-03AF-0695AE4E0C09}"/>
              </a:ext>
            </a:extLst>
          </p:cNvPr>
          <p:cNvSpPr>
            <a:spLocks noGrp="1"/>
          </p:cNvSpPr>
          <p:nvPr>
            <p:ph type="ctrTitle"/>
          </p:nvPr>
        </p:nvSpPr>
        <p:spPr>
          <a:xfrm>
            <a:off x="884903" y="3527323"/>
            <a:ext cx="2733367" cy="494072"/>
          </a:xfrm>
          <a:effectLst>
            <a:outerShdw blurRad="50800" dist="38100" dir="2700000" algn="tl" rotWithShape="0">
              <a:prstClr val="black">
                <a:alpha val="40000"/>
              </a:prstClr>
            </a:outerShdw>
          </a:effectLst>
        </p:spPr>
        <p:txBody>
          <a:bodyPr>
            <a:normAutofit fontScale="90000"/>
          </a:bodyPr>
          <a:lstStyle/>
          <a:p>
            <a:r>
              <a:rPr lang="en-US" dirty="0">
                <a:solidFill>
                  <a:schemeClr val="accent4"/>
                </a:solidFill>
                <a:latin typeface="Arial Black" panose="020B0A04020102020204" pitchFamily="34" charset="0"/>
                <a:ea typeface="+mn-ea"/>
                <a:cs typeface="+mn-cs"/>
              </a:rPr>
              <a:t>INDEX</a:t>
            </a:r>
            <a:br>
              <a:rPr lang="en-US" dirty="0"/>
            </a:br>
            <a:endParaRPr lang="en-US" dirty="0"/>
          </a:p>
        </p:txBody>
      </p:sp>
      <p:graphicFrame>
        <p:nvGraphicFramePr>
          <p:cNvPr id="3" name="Table 2">
            <a:extLst>
              <a:ext uri="{FF2B5EF4-FFF2-40B4-BE49-F238E27FC236}">
                <a16:creationId xmlns:a16="http://schemas.microsoft.com/office/drawing/2014/main" id="{7C69BA60-A5E1-A086-9AFB-614EB824AAB9}"/>
              </a:ext>
            </a:extLst>
          </p:cNvPr>
          <p:cNvGraphicFramePr>
            <a:graphicFrameLocks noGrp="1"/>
          </p:cNvGraphicFramePr>
          <p:nvPr>
            <p:extLst>
              <p:ext uri="{D42A27DB-BD31-4B8C-83A1-F6EECF244321}">
                <p14:modId xmlns:p14="http://schemas.microsoft.com/office/powerpoint/2010/main" val="2830429942"/>
              </p:ext>
            </p:extLst>
          </p:nvPr>
        </p:nvGraphicFramePr>
        <p:xfrm>
          <a:off x="5220927" y="538047"/>
          <a:ext cx="6086170" cy="5427777"/>
        </p:xfrm>
        <a:graphic>
          <a:graphicData uri="http://schemas.openxmlformats.org/drawingml/2006/table">
            <a:tbl>
              <a:tblPr firstRow="1" bandRow="1">
                <a:tableStyleId>{00A15C55-8517-42AA-B614-E9B94910E393}</a:tableStyleId>
              </a:tblPr>
              <a:tblGrid>
                <a:gridCol w="3043085">
                  <a:extLst>
                    <a:ext uri="{9D8B030D-6E8A-4147-A177-3AD203B41FA5}">
                      <a16:colId xmlns:a16="http://schemas.microsoft.com/office/drawing/2014/main" val="1381208824"/>
                    </a:ext>
                  </a:extLst>
                </a:gridCol>
                <a:gridCol w="3043085">
                  <a:extLst>
                    <a:ext uri="{9D8B030D-6E8A-4147-A177-3AD203B41FA5}">
                      <a16:colId xmlns:a16="http://schemas.microsoft.com/office/drawing/2014/main" val="931007928"/>
                    </a:ext>
                  </a:extLst>
                </a:gridCol>
              </a:tblGrid>
              <a:tr h="571035">
                <a:tc>
                  <a:txBody>
                    <a:bodyPr/>
                    <a:lstStyle/>
                    <a:p>
                      <a:pPr algn="ctr">
                        <a:lnSpc>
                          <a:spcPct val="150000"/>
                        </a:lnSpc>
                      </a:pPr>
                      <a:r>
                        <a:rPr lang="en-US" sz="2000" dirty="0"/>
                        <a:t>S. No.</a:t>
                      </a:r>
                    </a:p>
                  </a:txBody>
                  <a:tcPr/>
                </a:tc>
                <a:tc>
                  <a:txBody>
                    <a:bodyPr/>
                    <a:lstStyle/>
                    <a:p>
                      <a:pPr algn="ctr">
                        <a:lnSpc>
                          <a:spcPct val="150000"/>
                        </a:lnSpc>
                      </a:pPr>
                      <a:r>
                        <a:rPr lang="en-US" sz="2000" dirty="0"/>
                        <a:t>Title</a:t>
                      </a:r>
                    </a:p>
                  </a:txBody>
                  <a:tcPr/>
                </a:tc>
                <a:extLst>
                  <a:ext uri="{0D108BD9-81ED-4DB2-BD59-A6C34878D82A}">
                    <a16:rowId xmlns:a16="http://schemas.microsoft.com/office/drawing/2014/main" val="4027097554"/>
                  </a:ext>
                </a:extLst>
              </a:tr>
              <a:tr h="539638">
                <a:tc>
                  <a:txBody>
                    <a:bodyPr/>
                    <a:lstStyle/>
                    <a:p>
                      <a:pPr algn="ctr"/>
                      <a:r>
                        <a:rPr lang="en-US" sz="1800" dirty="0"/>
                        <a:t>1</a:t>
                      </a:r>
                    </a:p>
                  </a:txBody>
                  <a:tcPr/>
                </a:tc>
                <a:tc>
                  <a:txBody>
                    <a:bodyPr/>
                    <a:lstStyle/>
                    <a:p>
                      <a:pPr algn="ctr"/>
                      <a:r>
                        <a:rPr lang="en-US" sz="1800" dirty="0"/>
                        <a:t>Introduction</a:t>
                      </a:r>
                    </a:p>
                  </a:txBody>
                  <a:tcPr/>
                </a:tc>
                <a:extLst>
                  <a:ext uri="{0D108BD9-81ED-4DB2-BD59-A6C34878D82A}">
                    <a16:rowId xmlns:a16="http://schemas.microsoft.com/office/drawing/2014/main" val="1666961286"/>
                  </a:ext>
                </a:extLst>
              </a:tr>
              <a:tr h="539638">
                <a:tc>
                  <a:txBody>
                    <a:bodyPr/>
                    <a:lstStyle/>
                    <a:p>
                      <a:pPr algn="ctr"/>
                      <a:r>
                        <a:rPr lang="en-US" sz="1800" dirty="0"/>
                        <a:t>2</a:t>
                      </a:r>
                    </a:p>
                  </a:txBody>
                  <a:tcPr/>
                </a:tc>
                <a:tc>
                  <a:txBody>
                    <a:bodyPr/>
                    <a:lstStyle/>
                    <a:p>
                      <a:pPr algn="ctr"/>
                      <a:r>
                        <a:rPr lang="en-US" sz="1800" dirty="0"/>
                        <a:t>Objective</a:t>
                      </a:r>
                    </a:p>
                  </a:txBody>
                  <a:tcPr/>
                </a:tc>
                <a:extLst>
                  <a:ext uri="{0D108BD9-81ED-4DB2-BD59-A6C34878D82A}">
                    <a16:rowId xmlns:a16="http://schemas.microsoft.com/office/drawing/2014/main" val="1506742301"/>
                  </a:ext>
                </a:extLst>
              </a:tr>
              <a:tr h="539638">
                <a:tc>
                  <a:txBody>
                    <a:bodyPr/>
                    <a:lstStyle/>
                    <a:p>
                      <a:pPr algn="ctr"/>
                      <a:r>
                        <a:rPr lang="en-US" sz="1800" dirty="0"/>
                        <a:t>3</a:t>
                      </a:r>
                    </a:p>
                  </a:txBody>
                  <a:tcPr/>
                </a:tc>
                <a:tc>
                  <a:txBody>
                    <a:bodyPr/>
                    <a:lstStyle/>
                    <a:p>
                      <a:pPr algn="ctr"/>
                      <a:r>
                        <a:rPr lang="en-US" sz="1800" dirty="0"/>
                        <a:t>Methodology</a:t>
                      </a:r>
                    </a:p>
                  </a:txBody>
                  <a:tcPr/>
                </a:tc>
                <a:extLst>
                  <a:ext uri="{0D108BD9-81ED-4DB2-BD59-A6C34878D82A}">
                    <a16:rowId xmlns:a16="http://schemas.microsoft.com/office/drawing/2014/main" val="2556016926"/>
                  </a:ext>
                </a:extLst>
              </a:tr>
              <a:tr h="539638">
                <a:tc>
                  <a:txBody>
                    <a:bodyPr/>
                    <a:lstStyle/>
                    <a:p>
                      <a:pPr algn="ctr"/>
                      <a:r>
                        <a:rPr lang="en-US" sz="1800" dirty="0"/>
                        <a:t>4</a:t>
                      </a:r>
                    </a:p>
                  </a:txBody>
                  <a:tcPr/>
                </a:tc>
                <a:tc>
                  <a:txBody>
                    <a:bodyPr/>
                    <a:lstStyle/>
                    <a:p>
                      <a:pPr algn="ctr"/>
                      <a:r>
                        <a:rPr lang="en-US" sz="1800" dirty="0"/>
                        <a:t>Graphical Representation</a:t>
                      </a:r>
                    </a:p>
                  </a:txBody>
                  <a:tcPr/>
                </a:tc>
                <a:extLst>
                  <a:ext uri="{0D108BD9-81ED-4DB2-BD59-A6C34878D82A}">
                    <a16:rowId xmlns:a16="http://schemas.microsoft.com/office/drawing/2014/main" val="1764820728"/>
                  </a:ext>
                </a:extLst>
              </a:tr>
              <a:tr h="539638">
                <a:tc>
                  <a:txBody>
                    <a:bodyPr/>
                    <a:lstStyle/>
                    <a:p>
                      <a:pPr algn="ctr"/>
                      <a:r>
                        <a:rPr lang="en-US" sz="1800" dirty="0"/>
                        <a:t>5</a:t>
                      </a:r>
                    </a:p>
                  </a:txBody>
                  <a:tcPr/>
                </a:tc>
                <a:tc>
                  <a:txBody>
                    <a:bodyPr/>
                    <a:lstStyle/>
                    <a:p>
                      <a:pPr algn="ctr"/>
                      <a:r>
                        <a:rPr lang="en-US" sz="1800" dirty="0"/>
                        <a:t>Hypothesis</a:t>
                      </a:r>
                    </a:p>
                  </a:txBody>
                  <a:tcPr/>
                </a:tc>
                <a:extLst>
                  <a:ext uri="{0D108BD9-81ED-4DB2-BD59-A6C34878D82A}">
                    <a16:rowId xmlns:a16="http://schemas.microsoft.com/office/drawing/2014/main" val="3331919418"/>
                  </a:ext>
                </a:extLst>
              </a:tr>
              <a:tr h="539638">
                <a:tc>
                  <a:txBody>
                    <a:bodyPr/>
                    <a:lstStyle/>
                    <a:p>
                      <a:pPr algn="ctr"/>
                      <a:r>
                        <a:rPr lang="en-US" sz="1800" dirty="0"/>
                        <a:t>6</a:t>
                      </a:r>
                    </a:p>
                  </a:txBody>
                  <a:tcPr/>
                </a:tc>
                <a:tc>
                  <a:txBody>
                    <a:bodyPr/>
                    <a:lstStyle/>
                    <a:p>
                      <a:pPr algn="ctr"/>
                      <a:r>
                        <a:rPr lang="en-US" sz="1800" dirty="0"/>
                        <a:t>Results and Discussions</a:t>
                      </a:r>
                    </a:p>
                  </a:txBody>
                  <a:tcPr/>
                </a:tc>
                <a:extLst>
                  <a:ext uri="{0D108BD9-81ED-4DB2-BD59-A6C34878D82A}">
                    <a16:rowId xmlns:a16="http://schemas.microsoft.com/office/drawing/2014/main" val="1888454234"/>
                  </a:ext>
                </a:extLst>
              </a:tr>
              <a:tr h="539638">
                <a:tc>
                  <a:txBody>
                    <a:bodyPr/>
                    <a:lstStyle/>
                    <a:p>
                      <a:pPr algn="ctr"/>
                      <a:r>
                        <a:rPr lang="en-US" sz="1800" dirty="0"/>
                        <a:t>7</a:t>
                      </a:r>
                    </a:p>
                  </a:txBody>
                  <a:tcPr/>
                </a:tc>
                <a:tc>
                  <a:txBody>
                    <a:bodyPr/>
                    <a:lstStyle/>
                    <a:p>
                      <a:pPr algn="ctr"/>
                      <a:r>
                        <a:rPr lang="en-US" sz="1800" dirty="0"/>
                        <a:t>Limitation</a:t>
                      </a:r>
                    </a:p>
                  </a:txBody>
                  <a:tcPr/>
                </a:tc>
                <a:extLst>
                  <a:ext uri="{0D108BD9-81ED-4DB2-BD59-A6C34878D82A}">
                    <a16:rowId xmlns:a16="http://schemas.microsoft.com/office/drawing/2014/main" val="2907236233"/>
                  </a:ext>
                </a:extLst>
              </a:tr>
              <a:tr h="539638">
                <a:tc>
                  <a:txBody>
                    <a:bodyPr/>
                    <a:lstStyle/>
                    <a:p>
                      <a:pPr algn="ctr"/>
                      <a:r>
                        <a:rPr lang="en-US" sz="1800" dirty="0"/>
                        <a:t>8</a:t>
                      </a:r>
                    </a:p>
                  </a:txBody>
                  <a:tcPr/>
                </a:tc>
                <a:tc>
                  <a:txBody>
                    <a:bodyPr/>
                    <a:lstStyle/>
                    <a:p>
                      <a:pPr algn="ctr"/>
                      <a:r>
                        <a:rPr lang="en-US" sz="1800" dirty="0"/>
                        <a:t>Conclusion</a:t>
                      </a:r>
                    </a:p>
                  </a:txBody>
                  <a:tcPr/>
                </a:tc>
                <a:extLst>
                  <a:ext uri="{0D108BD9-81ED-4DB2-BD59-A6C34878D82A}">
                    <a16:rowId xmlns:a16="http://schemas.microsoft.com/office/drawing/2014/main" val="627432660"/>
                  </a:ext>
                </a:extLst>
              </a:tr>
              <a:tr h="539638">
                <a:tc>
                  <a:txBody>
                    <a:bodyPr/>
                    <a:lstStyle/>
                    <a:p>
                      <a:pPr algn="ctr"/>
                      <a:r>
                        <a:rPr lang="en-US" sz="1800" dirty="0"/>
                        <a:t>9</a:t>
                      </a:r>
                    </a:p>
                  </a:txBody>
                  <a:tcPr/>
                </a:tc>
                <a:tc>
                  <a:txBody>
                    <a:bodyPr/>
                    <a:lstStyle/>
                    <a:p>
                      <a:pPr algn="ctr"/>
                      <a:r>
                        <a:rPr lang="en-US" sz="1800" dirty="0"/>
                        <a:t>References</a:t>
                      </a:r>
                    </a:p>
                  </a:txBody>
                  <a:tcPr/>
                </a:tc>
                <a:extLst>
                  <a:ext uri="{0D108BD9-81ED-4DB2-BD59-A6C34878D82A}">
                    <a16:rowId xmlns:a16="http://schemas.microsoft.com/office/drawing/2014/main" val="3221248939"/>
                  </a:ext>
                </a:extLst>
              </a:tr>
            </a:tbl>
          </a:graphicData>
        </a:graphic>
      </p:graphicFrame>
      <p:sp>
        <p:nvSpPr>
          <p:cNvPr id="4" name="Rectangle 3">
            <a:extLst>
              <a:ext uri="{FF2B5EF4-FFF2-40B4-BE49-F238E27FC236}">
                <a16:creationId xmlns:a16="http://schemas.microsoft.com/office/drawing/2014/main" id="{093BD6C6-2F79-CBD4-472A-003ED41ACE3A}"/>
              </a:ext>
            </a:extLst>
          </p:cNvPr>
          <p:cNvSpPr/>
          <p:nvPr/>
        </p:nvSpPr>
        <p:spPr>
          <a:xfrm>
            <a:off x="429177" y="3251936"/>
            <a:ext cx="3936346" cy="177064"/>
          </a:xfrm>
          <a:prstGeom prst="rect">
            <a:avLst/>
          </a:prstGeom>
          <a:gradFill flip="none" rotWithShape="1">
            <a:gsLst>
              <a:gs pos="0">
                <a:srgbClr val="FFC000"/>
              </a:gs>
              <a:gs pos="45000">
                <a:schemeClr val="accent4">
                  <a:lumMod val="60000"/>
                  <a:lumOff val="40000"/>
                </a:schemeClr>
              </a:gs>
              <a:gs pos="83000">
                <a:schemeClr val="bg1">
                  <a:lumMod val="95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6624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AFC74-93F9-01FA-616C-453842B4C844}"/>
              </a:ext>
            </a:extLst>
          </p:cNvPr>
          <p:cNvSpPr>
            <a:spLocks noGrp="1"/>
          </p:cNvSpPr>
          <p:nvPr>
            <p:ph idx="1"/>
          </p:nvPr>
        </p:nvSpPr>
        <p:spPr>
          <a:xfrm>
            <a:off x="692120" y="1215688"/>
            <a:ext cx="7194755" cy="4898571"/>
          </a:xfrm>
        </p:spPr>
        <p:txBody>
          <a:bodyPr>
            <a:normAutofit fontScale="85000" lnSpcReduction="20000"/>
          </a:bodyPr>
          <a:lstStyle/>
          <a:p>
            <a:r>
              <a:rPr lang="en-US" dirty="0"/>
              <a:t>India is a fast-growing economy experiencing rapid demographic and lifestyle changes. These shifts are starting to significantly affect the nation’s disease patterns. </a:t>
            </a:r>
          </a:p>
          <a:p>
            <a:endParaRPr lang="en-US" dirty="0"/>
          </a:p>
          <a:p>
            <a:r>
              <a:rPr lang="en-US" dirty="0"/>
              <a:t>As the economy develops, changes in diet, exposure to the environment, access to healthcare, and population structure are reshaping the cancer risk landscape in India. </a:t>
            </a:r>
          </a:p>
          <a:p>
            <a:endParaRPr lang="en-US" dirty="0"/>
          </a:p>
          <a:p>
            <a:r>
              <a:rPr lang="en-US" dirty="0"/>
              <a:t>Cancer is not just a disease—it is a complex societal challenge influenced by culture, access, and awareness. </a:t>
            </a:r>
            <a:r>
              <a:rPr lang="en-IN" dirty="0">
                <a:latin typeface="Calibri" panose="020F0502020204030204" pitchFamily="34" charset="0"/>
                <a:ea typeface="Calibri" panose="020F0502020204030204" pitchFamily="34" charset="0"/>
                <a:cs typeface="Calibri" panose="020F0502020204030204" pitchFamily="34" charset="0"/>
              </a:rPr>
              <a:t>Population growth and improved diagnostic facilities have also contributed to higher cancer detection rates.</a:t>
            </a: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1629878-363B-C754-5E42-42717DDF1C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0229" y="772887"/>
            <a:ext cx="3363685" cy="4898570"/>
          </a:xfrm>
          <a:prstGeom prst="rect">
            <a:avLst/>
          </a:prstGeom>
        </p:spPr>
      </p:pic>
      <p:sp>
        <p:nvSpPr>
          <p:cNvPr id="2" name="Title 1">
            <a:extLst>
              <a:ext uri="{FF2B5EF4-FFF2-40B4-BE49-F238E27FC236}">
                <a16:creationId xmlns:a16="http://schemas.microsoft.com/office/drawing/2014/main" id="{4F1526C1-7E82-F91F-6E51-41EC8F1251C9}"/>
              </a:ext>
            </a:extLst>
          </p:cNvPr>
          <p:cNvSpPr txBox="1">
            <a:spLocks/>
          </p:cNvSpPr>
          <p:nvPr/>
        </p:nvSpPr>
        <p:spPr>
          <a:xfrm>
            <a:off x="828367" y="393290"/>
            <a:ext cx="6585155" cy="945765"/>
          </a:xfrm>
          <a:prstGeom prst="rect">
            <a:avLst/>
          </a:prstGeom>
          <a:effectLst>
            <a:outerShdw blurRad="50800" dist="38100" dir="2700000" algn="tl" rotWithShape="0">
              <a:prstClr val="black">
                <a:alpha val="40000"/>
              </a:prstClr>
            </a:outerShdw>
          </a:effectLst>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accent4"/>
                </a:solidFill>
                <a:latin typeface="Arial Black" panose="020B0A04020102020204" pitchFamily="34" charset="0"/>
                <a:ea typeface="+mn-ea"/>
                <a:cs typeface="+mn-cs"/>
              </a:rPr>
              <a:t>INTRODUCTION</a:t>
            </a:r>
            <a:br>
              <a:rPr lang="en-US" dirty="0"/>
            </a:br>
            <a:endParaRPr lang="en-US" dirty="0"/>
          </a:p>
        </p:txBody>
      </p:sp>
    </p:spTree>
    <p:extLst>
      <p:ext uri="{BB962C8B-B14F-4D97-AF65-F5344CB8AC3E}">
        <p14:creationId xmlns:p14="http://schemas.microsoft.com/office/powerpoint/2010/main" val="615295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765F0-AF02-E140-15C4-CA4D8E2D68C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C7271E-81B8-77D8-0CA7-7A6587725DD1}"/>
              </a:ext>
            </a:extLst>
          </p:cNvPr>
          <p:cNvSpPr/>
          <p:nvPr/>
        </p:nvSpPr>
        <p:spPr>
          <a:xfrm>
            <a:off x="7731760" y="0"/>
            <a:ext cx="4460240" cy="6858000"/>
          </a:xfrm>
          <a:prstGeom prst="rect">
            <a:avLst/>
          </a:prstGeom>
          <a:gradFill flip="none" rotWithShape="1">
            <a:gsLst>
              <a:gs pos="0">
                <a:srgbClr val="FFC000"/>
              </a:gs>
              <a:gs pos="45000">
                <a:schemeClr val="accent4">
                  <a:lumMod val="60000"/>
                  <a:lumOff val="40000"/>
                </a:schemeClr>
              </a:gs>
              <a:gs pos="83000">
                <a:schemeClr val="bg1">
                  <a:lumMod val="95000"/>
                </a:schemeClr>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49FC6AC-4804-3E38-B834-4F24964969C6}"/>
              </a:ext>
            </a:extLst>
          </p:cNvPr>
          <p:cNvSpPr txBox="1"/>
          <p:nvPr/>
        </p:nvSpPr>
        <p:spPr>
          <a:xfrm>
            <a:off x="519834" y="248756"/>
            <a:ext cx="7880814" cy="6001643"/>
          </a:xfrm>
          <a:prstGeom prst="rect">
            <a:avLst/>
          </a:prstGeom>
          <a:noFill/>
        </p:spPr>
        <p:txBody>
          <a:bodyPr wrap="square" rtlCol="0">
            <a:spAutoFit/>
          </a:bodyPr>
          <a:lstStyle/>
          <a:p>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t>Cancer distribution in India is highly varied, meaning some areas have much higher incidence rates than others.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Understanding these trends, especially regarding gender, age and zonal differences, is crucial for developing prevention strategies, improving early detection, and informing healthcare policies.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Its trajectory requires more than medical knowledge; it demands a statistical journey through India’s diverse landscape. By exploring zonal variation and gender disparities, this study reveals critical gaps and patterns that can guide future prevention strategies and healthcare planning.</a:t>
            </a:r>
          </a:p>
          <a:p>
            <a:pPr algn="just"/>
            <a:endParaRPr lang="en-US" sz="2400" dirty="0"/>
          </a:p>
        </p:txBody>
      </p:sp>
    </p:spTree>
    <p:extLst>
      <p:ext uri="{BB962C8B-B14F-4D97-AF65-F5344CB8AC3E}">
        <p14:creationId xmlns:p14="http://schemas.microsoft.com/office/powerpoint/2010/main" val="3504750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3858B-6F0F-0541-2A17-15E7A429B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E97DD-712F-563F-F4EA-EEB9F2B17BB7}"/>
              </a:ext>
            </a:extLst>
          </p:cNvPr>
          <p:cNvSpPr>
            <a:spLocks noGrp="1"/>
          </p:cNvSpPr>
          <p:nvPr>
            <p:ph type="ctrTitle"/>
          </p:nvPr>
        </p:nvSpPr>
        <p:spPr>
          <a:xfrm>
            <a:off x="-152400" y="1442719"/>
            <a:ext cx="9144000" cy="725805"/>
          </a:xfrm>
          <a:effectLst>
            <a:outerShdw blurRad="50800" dist="38100" dir="2700000" algn="tl" rotWithShape="0">
              <a:prstClr val="black">
                <a:alpha val="40000"/>
              </a:prstClr>
            </a:outerShdw>
          </a:effectLst>
        </p:spPr>
        <p:txBody>
          <a:bodyPr>
            <a:normAutofit fontScale="90000"/>
          </a:bodyPr>
          <a:lstStyle/>
          <a:p>
            <a:r>
              <a:rPr lang="en-US" sz="4900" dirty="0">
                <a:solidFill>
                  <a:schemeClr val="accent4"/>
                </a:solidFill>
                <a:latin typeface="Arial Black" panose="020B0A04020102020204" pitchFamily="34" charset="0"/>
                <a:ea typeface="+mn-ea"/>
                <a:cs typeface="+mn-cs"/>
              </a:rPr>
              <a:t>OBJECTIVE OF STUDY</a:t>
            </a:r>
            <a:br>
              <a:rPr lang="en-US" dirty="0"/>
            </a:br>
            <a:endParaRPr lang="en-US" dirty="0"/>
          </a:p>
        </p:txBody>
      </p:sp>
      <p:sp>
        <p:nvSpPr>
          <p:cNvPr id="3" name="Subtitle 2">
            <a:extLst>
              <a:ext uri="{FF2B5EF4-FFF2-40B4-BE49-F238E27FC236}">
                <a16:creationId xmlns:a16="http://schemas.microsoft.com/office/drawing/2014/main" id="{82F0BBBC-7948-5027-25B9-3B3A1534AF28}"/>
              </a:ext>
            </a:extLst>
          </p:cNvPr>
          <p:cNvSpPr>
            <a:spLocks noGrp="1"/>
          </p:cNvSpPr>
          <p:nvPr>
            <p:ph type="subTitle" idx="1"/>
          </p:nvPr>
        </p:nvSpPr>
        <p:spPr>
          <a:xfrm>
            <a:off x="955040" y="2006601"/>
            <a:ext cx="7467600" cy="4209142"/>
          </a:xfrm>
        </p:spPr>
        <p:txBody>
          <a:bodyPr>
            <a:normAutofit/>
          </a:bodyPr>
          <a:lstStyle/>
          <a:p>
            <a:pPr marL="457200" lvl="0" indent="-457200" algn="just">
              <a:buFont typeface="+mj-lt"/>
              <a:buAutoNum type="arabicPeriod"/>
            </a:pPr>
            <a:r>
              <a:rPr lang="en-US" sz="2800" dirty="0"/>
              <a:t>To examine the spatial distribution of cancer incidence across various zones in India.</a:t>
            </a:r>
          </a:p>
          <a:p>
            <a:pPr marL="457200" lvl="0" indent="-457200" algn="just">
              <a:buFont typeface="+mj-lt"/>
              <a:buAutoNum type="arabicPeriod"/>
            </a:pPr>
            <a:r>
              <a:rPr lang="en-US" sz="2800" dirty="0"/>
              <a:t>To assess whether geographical zone of residence influences the probability of individuals being diagnosed cancer positive.</a:t>
            </a:r>
          </a:p>
          <a:p>
            <a:pPr marL="457200" lvl="0" indent="-457200" algn="just">
              <a:buFont typeface="+mj-lt"/>
              <a:buAutoNum type="arabicPeriod"/>
            </a:pPr>
            <a:r>
              <a:rPr lang="en-US" sz="2800" dirty="0"/>
              <a:t>To analyze whether gender plays a role in the number of cancers in India.</a:t>
            </a:r>
          </a:p>
          <a:p>
            <a:pPr marL="457200" lvl="0" indent="-457200" algn="just">
              <a:buFont typeface="+mj-lt"/>
              <a:buAutoNum type="arabicPeriod"/>
            </a:pPr>
            <a:r>
              <a:rPr lang="en-US" sz="2800" dirty="0"/>
              <a:t>To analyze the age group most at risk of developing cancer.</a:t>
            </a:r>
          </a:p>
          <a:p>
            <a:endParaRPr lang="en-US" dirty="0"/>
          </a:p>
        </p:txBody>
      </p:sp>
      <p:sp>
        <p:nvSpPr>
          <p:cNvPr id="4" name="Rectangle 3">
            <a:extLst>
              <a:ext uri="{FF2B5EF4-FFF2-40B4-BE49-F238E27FC236}">
                <a16:creationId xmlns:a16="http://schemas.microsoft.com/office/drawing/2014/main" id="{DC8CB371-B250-2D03-A82C-F143202CD933}"/>
              </a:ext>
            </a:extLst>
          </p:cNvPr>
          <p:cNvSpPr/>
          <p:nvPr/>
        </p:nvSpPr>
        <p:spPr>
          <a:xfrm>
            <a:off x="955040" y="1442719"/>
            <a:ext cx="7833360" cy="157481"/>
          </a:xfrm>
          <a:prstGeom prst="rect">
            <a:avLst/>
          </a:prstGeom>
          <a:gradFill flip="none" rotWithShape="1">
            <a:gsLst>
              <a:gs pos="0">
                <a:srgbClr val="FFC000"/>
              </a:gs>
              <a:gs pos="45000">
                <a:schemeClr val="accent4">
                  <a:lumMod val="60000"/>
                  <a:lumOff val="40000"/>
                </a:schemeClr>
              </a:gs>
              <a:gs pos="83000">
                <a:schemeClr val="bg1">
                  <a:lumMod val="95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FA384D2-A4A7-BAAF-1786-A0BD039FC3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8400" y="815361"/>
            <a:ext cx="2893050" cy="5553850"/>
          </a:xfrm>
          <a:prstGeom prst="rect">
            <a:avLst/>
          </a:prstGeom>
        </p:spPr>
      </p:pic>
    </p:spTree>
    <p:extLst>
      <p:ext uri="{BB962C8B-B14F-4D97-AF65-F5344CB8AC3E}">
        <p14:creationId xmlns:p14="http://schemas.microsoft.com/office/powerpoint/2010/main" val="3362280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E348-0274-6C91-B2D2-712B63DB1A1F}"/>
              </a:ext>
            </a:extLst>
          </p:cNvPr>
          <p:cNvSpPr>
            <a:spLocks noGrp="1"/>
          </p:cNvSpPr>
          <p:nvPr>
            <p:ph type="title"/>
          </p:nvPr>
        </p:nvSpPr>
        <p:spPr>
          <a:xfrm>
            <a:off x="839788" y="239485"/>
            <a:ext cx="7193869" cy="1088571"/>
          </a:xfrm>
        </p:spPr>
        <p:txBody>
          <a:bodyPr>
            <a:normAutofit/>
          </a:bodyPr>
          <a:lstStyle/>
          <a:p>
            <a:r>
              <a:rPr lang="en-IN" sz="4400" b="1" dirty="0">
                <a:solidFill>
                  <a:schemeClr val="accent1"/>
                </a:solidFill>
                <a:latin typeface="+mn-lt"/>
              </a:rPr>
              <a:t>METHODOLOGY</a:t>
            </a:r>
          </a:p>
        </p:txBody>
      </p:sp>
      <p:sp>
        <p:nvSpPr>
          <p:cNvPr id="4" name="Text Placeholder 3">
            <a:extLst>
              <a:ext uri="{FF2B5EF4-FFF2-40B4-BE49-F238E27FC236}">
                <a16:creationId xmlns:a16="http://schemas.microsoft.com/office/drawing/2014/main" id="{1D82D4BB-4602-864C-CE4E-BA8E16FC8AC4}"/>
              </a:ext>
            </a:extLst>
          </p:cNvPr>
          <p:cNvSpPr>
            <a:spLocks noGrp="1"/>
          </p:cNvSpPr>
          <p:nvPr>
            <p:ph type="body" sz="half" idx="2"/>
          </p:nvPr>
        </p:nvSpPr>
        <p:spPr>
          <a:xfrm>
            <a:off x="839788" y="1447799"/>
            <a:ext cx="7193869" cy="4800600"/>
          </a:xfrm>
        </p:spPr>
        <p:txBody>
          <a:bodyPr>
            <a:noAutofit/>
          </a:bodyPr>
          <a:lstStyle/>
          <a:p>
            <a:pPr marL="342900" indent="-342900">
              <a:buFont typeface="Arial" panose="020B0604020202020204" pitchFamily="34" charset="0"/>
              <a:buChar char="•"/>
            </a:pPr>
            <a:r>
              <a:rPr lang="en-US" sz="2400" b="1" dirty="0"/>
              <a:t>Population Definition</a:t>
            </a:r>
          </a:p>
          <a:p>
            <a:r>
              <a:rPr lang="en-US" sz="2400" dirty="0"/>
              <a:t>The study population is derived from the National Centre for Disease Informatics and Research (NCDIR) dataset, covering cancer incidence across six zones of India: North East, North, South, East, West, and Central.</a:t>
            </a:r>
          </a:p>
          <a:p>
            <a:r>
              <a:rPr lang="en-US" sz="2400" dirty="0"/>
              <a:t> </a:t>
            </a:r>
          </a:p>
          <a:p>
            <a:pPr marL="342900" indent="-342900">
              <a:buFont typeface="Arial" panose="020B0604020202020204" pitchFamily="34" charset="0"/>
              <a:buChar char="•"/>
            </a:pPr>
            <a:r>
              <a:rPr lang="en-US" sz="2400" b="1" dirty="0"/>
              <a:t>Data Collection</a:t>
            </a:r>
          </a:p>
          <a:p>
            <a:r>
              <a:rPr lang="en-US" sz="2400" dirty="0"/>
              <a:t>This research relies entirely on secondary data sourced from NCDIR, a nationally recognized government authority. The dataset is systematically collected, validated, and standardized, providing reliable and credible information for epidemiological and public health analysis.</a:t>
            </a:r>
          </a:p>
          <a:p>
            <a:endParaRPr lang="en-IN" sz="2400" dirty="0"/>
          </a:p>
          <a:p>
            <a:endParaRPr lang="en-IN" sz="2400" dirty="0"/>
          </a:p>
        </p:txBody>
      </p:sp>
      <p:pic>
        <p:nvPicPr>
          <p:cNvPr id="10" name="Picture 9">
            <a:extLst>
              <a:ext uri="{FF2B5EF4-FFF2-40B4-BE49-F238E27FC236}">
                <a16:creationId xmlns:a16="http://schemas.microsoft.com/office/drawing/2014/main" id="{03129A2C-8204-A1DB-D732-5DD07E5B4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4657" y="1447799"/>
            <a:ext cx="3516086" cy="4386943"/>
          </a:xfrm>
          <a:prstGeom prst="rect">
            <a:avLst/>
          </a:prstGeom>
        </p:spPr>
      </p:pic>
    </p:spTree>
    <p:extLst>
      <p:ext uri="{BB962C8B-B14F-4D97-AF65-F5344CB8AC3E}">
        <p14:creationId xmlns:p14="http://schemas.microsoft.com/office/powerpoint/2010/main" val="272238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6" name="Content Placeholder 5">
            <a:extLst>
              <a:ext uri="{FF2B5EF4-FFF2-40B4-BE49-F238E27FC236}">
                <a16:creationId xmlns:a16="http://schemas.microsoft.com/office/drawing/2014/main" id="{3E4379D7-383F-1F50-AF3C-A425D833BF3A}"/>
              </a:ext>
            </a:extLst>
          </p:cNvPr>
          <p:cNvSpPr>
            <a:spLocks noGrp="1"/>
          </p:cNvSpPr>
          <p:nvPr>
            <p:ph idx="1"/>
          </p:nvPr>
        </p:nvSpPr>
        <p:spPr>
          <a:xfrm>
            <a:off x="838200" y="452284"/>
            <a:ext cx="10515600" cy="5724679"/>
          </a:xfrm>
        </p:spPr>
        <p:txBody>
          <a:bodyPr>
            <a:normAutofit fontScale="92500" lnSpcReduction="20000"/>
          </a:bodyPr>
          <a:lstStyle/>
          <a:p>
            <a:r>
              <a:rPr lang="en-US" b="1" dirty="0"/>
              <a:t>Understanding the Dataset</a:t>
            </a:r>
          </a:p>
          <a:p>
            <a:pPr marL="0" indent="0">
              <a:buNone/>
            </a:pPr>
            <a:r>
              <a:rPr lang="en-US" dirty="0"/>
              <a:t>The dataset is hierarchically structured by zone, state, gender, and age group, enabling detailed regional and demographic comparisons. </a:t>
            </a:r>
          </a:p>
          <a:p>
            <a:pPr marL="0" indent="0">
              <a:buNone/>
            </a:pPr>
            <a:endParaRPr lang="en-US" dirty="0"/>
          </a:p>
          <a:p>
            <a:r>
              <a:rPr lang="en-US" b="1" dirty="0"/>
              <a:t>Statistical Methodology</a:t>
            </a:r>
          </a:p>
          <a:p>
            <a:pPr marL="0" indent="0">
              <a:buNone/>
            </a:pPr>
            <a:r>
              <a:rPr lang="en-US" dirty="0"/>
              <a:t>The study employs correlation analysis to assess relationships between variables and simple linear regression to examine the impact of predictors on cancer incidence. These techniques help quantify associations, trends, and predictive relationships within the data.</a:t>
            </a:r>
          </a:p>
          <a:p>
            <a:pPr marL="0" indent="0">
              <a:buNone/>
            </a:pPr>
            <a:endParaRPr lang="en-US" dirty="0"/>
          </a:p>
          <a:p>
            <a:r>
              <a:rPr lang="en-US" b="1" dirty="0"/>
              <a:t>Hypothesis Testing (Chi-Square Test)</a:t>
            </a:r>
          </a:p>
          <a:p>
            <a:pPr marL="0" indent="0">
              <a:buNone/>
            </a:pPr>
            <a:r>
              <a:rPr lang="en-US" dirty="0"/>
              <a:t>Chi-square tests are used to examine whether cancer incidence differs significantly by gender and geographic zone. The test compares observed and expected frequencies to determine whether variations in cancer cases occur due to chance or indicate statistically significant associations.</a:t>
            </a:r>
          </a:p>
          <a:p>
            <a:pPr marL="0" indent="0">
              <a:buNone/>
            </a:pPr>
            <a:endParaRPr lang="en-US" dirty="0"/>
          </a:p>
          <a:p>
            <a:pPr marL="0" indent="0">
              <a:buNone/>
            </a:pPr>
            <a:endParaRPr lang="en-US" dirty="0"/>
          </a:p>
          <a:p>
            <a:endParaRPr lang="en-IN" dirty="0"/>
          </a:p>
        </p:txBody>
      </p:sp>
    </p:spTree>
    <p:extLst>
      <p:ext uri="{BB962C8B-B14F-4D97-AF65-F5344CB8AC3E}">
        <p14:creationId xmlns:p14="http://schemas.microsoft.com/office/powerpoint/2010/main" val="500809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112A7-E7A9-A125-08B5-DB90BE2D2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1B859-1F8B-9207-2E4D-A450CFEEA02C}"/>
              </a:ext>
            </a:extLst>
          </p:cNvPr>
          <p:cNvSpPr>
            <a:spLocks noGrp="1"/>
          </p:cNvSpPr>
          <p:nvPr>
            <p:ph type="ctrTitle"/>
          </p:nvPr>
        </p:nvSpPr>
        <p:spPr>
          <a:xfrm>
            <a:off x="1524000" y="1122363"/>
            <a:ext cx="9690100" cy="3322638"/>
          </a:xfrm>
          <a:effectLst>
            <a:outerShdw blurRad="50800" dist="38100" dir="2700000" algn="tl" rotWithShape="0">
              <a:prstClr val="black">
                <a:alpha val="40000"/>
              </a:prstClr>
            </a:outerShdw>
          </a:effectLst>
        </p:spPr>
        <p:txBody>
          <a:bodyPr/>
          <a:lstStyle/>
          <a:p>
            <a:r>
              <a:rPr lang="en-US" sz="4800" dirty="0">
                <a:solidFill>
                  <a:schemeClr val="accent4"/>
                </a:solidFill>
                <a:latin typeface="Arial Black" panose="020B0A04020102020204" pitchFamily="34" charset="0"/>
                <a:ea typeface="+mn-ea"/>
                <a:cs typeface="+mn-cs"/>
              </a:rPr>
              <a:t>GRAPHICAL </a:t>
            </a:r>
            <a:br>
              <a:rPr lang="en-US" sz="4800" dirty="0">
                <a:solidFill>
                  <a:schemeClr val="accent4"/>
                </a:solidFill>
                <a:latin typeface="Arial Black" panose="020B0A04020102020204" pitchFamily="34" charset="0"/>
                <a:ea typeface="+mn-ea"/>
                <a:cs typeface="+mn-cs"/>
              </a:rPr>
            </a:br>
            <a:r>
              <a:rPr lang="en-US" sz="4800" dirty="0">
                <a:solidFill>
                  <a:schemeClr val="accent4"/>
                </a:solidFill>
                <a:latin typeface="Arial Black" panose="020B0A04020102020204" pitchFamily="34" charset="0"/>
                <a:ea typeface="+mn-ea"/>
                <a:cs typeface="+mn-cs"/>
              </a:rPr>
              <a:t>REPRESENTATION</a:t>
            </a:r>
            <a:br>
              <a:rPr lang="en-US" dirty="0"/>
            </a:br>
            <a:endParaRPr lang="en-US" dirty="0"/>
          </a:p>
        </p:txBody>
      </p:sp>
    </p:spTree>
    <p:extLst>
      <p:ext uri="{BB962C8B-B14F-4D97-AF65-F5344CB8AC3E}">
        <p14:creationId xmlns:p14="http://schemas.microsoft.com/office/powerpoint/2010/main" val="2347166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9AFD6-58F3-6563-70B7-37901865290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29E36F6-5437-FE3F-6A41-B6E86065C2F1}"/>
              </a:ext>
            </a:extLst>
          </p:cNvPr>
          <p:cNvSpPr>
            <a:spLocks noGrp="1"/>
          </p:cNvSpPr>
          <p:nvPr>
            <p:ph type="title"/>
          </p:nvPr>
        </p:nvSpPr>
        <p:spPr>
          <a:xfrm>
            <a:off x="838200" y="284467"/>
            <a:ext cx="10095271" cy="1325563"/>
          </a:xfrm>
        </p:spPr>
        <p:txBody>
          <a:bodyPr>
            <a:normAutofit/>
          </a:bodyPr>
          <a:lstStyle/>
          <a:p>
            <a:r>
              <a:rPr lang="en-US" altLang="en-US" b="1" dirty="0">
                <a:latin typeface="Calibri" panose="020F0502020204030204" pitchFamily="34" charset="0"/>
                <a:ea typeface="Calibri" panose="020F0502020204030204" pitchFamily="34" charset="0"/>
                <a:cs typeface="Times New Roman" panose="02020603050405020304" pitchFamily="18" charset="0"/>
              </a:rPr>
              <a:t>Gender most at risk of developing cancer</a:t>
            </a:r>
            <a:br>
              <a:rPr lang="en-US" altLang="en-US" sz="6600" dirty="0">
                <a:latin typeface="Arial" panose="020B0604020202020204" pitchFamily="34" charset="0"/>
              </a:rPr>
            </a:br>
            <a:endParaRPr lang="en-IN" dirty="0"/>
          </a:p>
        </p:txBody>
      </p:sp>
      <p:graphicFrame>
        <p:nvGraphicFramePr>
          <p:cNvPr id="7" name="Table 6">
            <a:extLst>
              <a:ext uri="{FF2B5EF4-FFF2-40B4-BE49-F238E27FC236}">
                <a16:creationId xmlns:a16="http://schemas.microsoft.com/office/drawing/2014/main" id="{6A717EDC-4B39-AE97-6A4C-736EEE4E2252}"/>
              </a:ext>
            </a:extLst>
          </p:cNvPr>
          <p:cNvGraphicFramePr>
            <a:graphicFrameLocks noGrp="1"/>
          </p:cNvGraphicFramePr>
          <p:nvPr>
            <p:extLst>
              <p:ext uri="{D42A27DB-BD31-4B8C-83A1-F6EECF244321}">
                <p14:modId xmlns:p14="http://schemas.microsoft.com/office/powerpoint/2010/main" val="4079256243"/>
              </p:ext>
            </p:extLst>
          </p:nvPr>
        </p:nvGraphicFramePr>
        <p:xfrm>
          <a:off x="988114" y="1445517"/>
          <a:ext cx="3732395" cy="1219690"/>
        </p:xfrm>
        <a:graphic>
          <a:graphicData uri="http://schemas.openxmlformats.org/drawingml/2006/table">
            <a:tbl>
              <a:tblPr firstRow="1" firstCol="1" bandRow="1">
                <a:tableStyleId>{5C22544A-7EE6-4342-B048-85BDC9FD1C3A}</a:tableStyleId>
              </a:tblPr>
              <a:tblGrid>
                <a:gridCol w="1622781">
                  <a:extLst>
                    <a:ext uri="{9D8B030D-6E8A-4147-A177-3AD203B41FA5}">
                      <a16:colId xmlns:a16="http://schemas.microsoft.com/office/drawing/2014/main" val="403714220"/>
                    </a:ext>
                  </a:extLst>
                </a:gridCol>
                <a:gridCol w="2109614">
                  <a:extLst>
                    <a:ext uri="{9D8B030D-6E8A-4147-A177-3AD203B41FA5}">
                      <a16:colId xmlns:a16="http://schemas.microsoft.com/office/drawing/2014/main" val="2418773662"/>
                    </a:ext>
                  </a:extLst>
                </a:gridCol>
              </a:tblGrid>
              <a:tr h="449243">
                <a:tc>
                  <a:txBody>
                    <a:bodyPr/>
                    <a:lstStyle/>
                    <a:p>
                      <a:pPr algn="ctr">
                        <a:lnSpc>
                          <a:spcPct val="200000"/>
                        </a:lnSpc>
                        <a:spcAft>
                          <a:spcPts val="800"/>
                        </a:spcAft>
                        <a:buNone/>
                      </a:pPr>
                      <a:r>
                        <a:rPr lang="en-IN" sz="1200" kern="0" dirty="0">
                          <a:effectLst/>
                        </a:rPr>
                        <a:t>Gender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800"/>
                        </a:spcAft>
                        <a:buNone/>
                      </a:pPr>
                      <a:r>
                        <a:rPr lang="en-IN" sz="1200" kern="0" dirty="0">
                          <a:effectLst/>
                        </a:rPr>
                        <a:t>Total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09041820"/>
                  </a:ext>
                </a:extLst>
              </a:tr>
              <a:tr h="449243">
                <a:tc>
                  <a:txBody>
                    <a:bodyPr/>
                    <a:lstStyle/>
                    <a:p>
                      <a:pPr algn="ctr">
                        <a:lnSpc>
                          <a:spcPct val="200000"/>
                        </a:lnSpc>
                        <a:spcAft>
                          <a:spcPts val="800"/>
                        </a:spcAft>
                        <a:buNone/>
                      </a:pPr>
                      <a:r>
                        <a:rPr lang="en-IN" sz="1200" kern="0" dirty="0">
                          <a:effectLst/>
                        </a:rPr>
                        <a:t>Males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800"/>
                        </a:spcAft>
                        <a:buNone/>
                      </a:pPr>
                      <a:r>
                        <a:rPr lang="en-IN" sz="1200" kern="0" dirty="0">
                          <a:effectLst/>
                        </a:rPr>
                        <a:t>152100186</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13513358"/>
                  </a:ext>
                </a:extLst>
              </a:tr>
              <a:tr h="321204">
                <a:tc>
                  <a:txBody>
                    <a:bodyPr/>
                    <a:lstStyle/>
                    <a:p>
                      <a:pPr algn="ctr">
                        <a:lnSpc>
                          <a:spcPct val="200000"/>
                        </a:lnSpc>
                        <a:buNone/>
                      </a:pPr>
                      <a:r>
                        <a:rPr lang="en-IN" sz="1200" kern="0" dirty="0">
                          <a:effectLst/>
                        </a:rPr>
                        <a:t>Females</a:t>
                      </a:r>
                      <a:r>
                        <a:rPr lang="en-IN" sz="1100" kern="100" dirty="0">
                          <a:effectLst/>
                        </a:rPr>
                        <a:t> </a:t>
                      </a:r>
                      <a:endParaRPr lang="en-IN" sz="1100" kern="1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800"/>
                        </a:spcAft>
                        <a:buNone/>
                      </a:pPr>
                      <a:r>
                        <a:rPr lang="en-IN" sz="1200" kern="0" dirty="0">
                          <a:effectLst/>
                        </a:rPr>
                        <a:t>142916569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13198735"/>
                  </a:ext>
                </a:extLst>
              </a:tr>
            </a:tbl>
          </a:graphicData>
        </a:graphic>
      </p:graphicFrame>
      <p:graphicFrame>
        <p:nvGraphicFramePr>
          <p:cNvPr id="9" name="Chart 8">
            <a:extLst>
              <a:ext uri="{FF2B5EF4-FFF2-40B4-BE49-F238E27FC236}">
                <a16:creationId xmlns:a16="http://schemas.microsoft.com/office/drawing/2014/main" id="{F4A5DE5D-56AA-A079-3695-149335AA0A6B}"/>
              </a:ext>
            </a:extLst>
          </p:cNvPr>
          <p:cNvGraphicFramePr/>
          <p:nvPr>
            <p:extLst>
              <p:ext uri="{D42A27DB-BD31-4B8C-83A1-F6EECF244321}">
                <p14:modId xmlns:p14="http://schemas.microsoft.com/office/powerpoint/2010/main" val="4273053889"/>
              </p:ext>
            </p:extLst>
          </p:nvPr>
        </p:nvGraphicFramePr>
        <p:xfrm>
          <a:off x="710381" y="3062748"/>
          <a:ext cx="4559300" cy="2777028"/>
        </p:xfrm>
        <a:graphic>
          <a:graphicData uri="http://schemas.openxmlformats.org/drawingml/2006/chart">
            <c:chart xmlns:c="http://schemas.openxmlformats.org/drawingml/2006/chart" xmlns:r="http://schemas.openxmlformats.org/officeDocument/2006/relationships" r:id="rId2"/>
          </a:graphicData>
        </a:graphic>
      </p:graphicFrame>
      <p:sp>
        <p:nvSpPr>
          <p:cNvPr id="16" name="Rectangle 6">
            <a:extLst>
              <a:ext uri="{FF2B5EF4-FFF2-40B4-BE49-F238E27FC236}">
                <a16:creationId xmlns:a16="http://schemas.microsoft.com/office/drawing/2014/main" id="{DF5DFACC-384A-6E25-E2CD-BDB9EE639101}"/>
              </a:ext>
            </a:extLst>
          </p:cNvPr>
          <p:cNvSpPr>
            <a:spLocks noChangeArrowheads="1"/>
          </p:cNvSpPr>
          <p:nvPr/>
        </p:nvSpPr>
        <p:spPr bwMode="auto">
          <a:xfrm>
            <a:off x="6332883" y="1140215"/>
            <a:ext cx="480320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nearly equal distribution of cancer cases between males and females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This balance highlights the need for equitable access to cancer screening, diagnostic and treatment services for both men and women.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Since neither gender is disproportionately affected, public health interventions should be designed to address both groups equally through awareness, prevention and care initiatives.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Furthermore, the balanced gender ration suggests that factors such as age, geographic zone, environmental exposure, lifestyle and socio-economic conditions. </a:t>
            </a:r>
          </a:p>
        </p:txBody>
      </p:sp>
    </p:spTree>
    <p:extLst>
      <p:ext uri="{BB962C8B-B14F-4D97-AF65-F5344CB8AC3E}">
        <p14:creationId xmlns:p14="http://schemas.microsoft.com/office/powerpoint/2010/main" val="1690844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BC51-1A36-6B66-5285-BA5D5E2B5EAA}"/>
              </a:ext>
            </a:extLst>
          </p:cNvPr>
          <p:cNvSpPr>
            <a:spLocks noGrp="1"/>
          </p:cNvSpPr>
          <p:nvPr>
            <p:ph type="title"/>
          </p:nvPr>
        </p:nvSpPr>
        <p:spPr>
          <a:xfrm>
            <a:off x="859465" y="150554"/>
            <a:ext cx="5918735" cy="1325563"/>
          </a:xfrm>
        </p:spPr>
        <p:txBody>
          <a:bodyPr>
            <a:normAutofit/>
          </a:bodyPr>
          <a:lstStyle/>
          <a:p>
            <a:r>
              <a:rPr lang="en-IN" sz="3200" b="1" dirty="0">
                <a:latin typeface="+mn-lt"/>
              </a:rPr>
              <a:t>Zone with the highest incidence of cancer cases in India</a:t>
            </a:r>
          </a:p>
        </p:txBody>
      </p:sp>
      <p:graphicFrame>
        <p:nvGraphicFramePr>
          <p:cNvPr id="4" name="Content Placeholder 3">
            <a:extLst>
              <a:ext uri="{FF2B5EF4-FFF2-40B4-BE49-F238E27FC236}">
                <a16:creationId xmlns:a16="http://schemas.microsoft.com/office/drawing/2014/main" id="{85F75D4D-7F13-46E3-BF07-F2BB4642949F}"/>
              </a:ext>
            </a:extLst>
          </p:cNvPr>
          <p:cNvGraphicFramePr>
            <a:graphicFrameLocks noGrp="1"/>
          </p:cNvGraphicFramePr>
          <p:nvPr>
            <p:ph idx="1"/>
            <p:extLst>
              <p:ext uri="{D42A27DB-BD31-4B8C-83A1-F6EECF244321}">
                <p14:modId xmlns:p14="http://schemas.microsoft.com/office/powerpoint/2010/main" val="2348702734"/>
              </p:ext>
            </p:extLst>
          </p:nvPr>
        </p:nvGraphicFramePr>
        <p:xfrm>
          <a:off x="6981477" y="365125"/>
          <a:ext cx="4019273" cy="2496211"/>
        </p:xfrm>
        <a:graphic>
          <a:graphicData uri="http://schemas.openxmlformats.org/drawingml/2006/table">
            <a:tbl>
              <a:tblPr firstRow="1" firstCol="1" bandRow="1">
                <a:tableStyleId>{5C22544A-7EE6-4342-B048-85BDC9FD1C3A}</a:tableStyleId>
              </a:tblPr>
              <a:tblGrid>
                <a:gridCol w="2263458">
                  <a:extLst>
                    <a:ext uri="{9D8B030D-6E8A-4147-A177-3AD203B41FA5}">
                      <a16:colId xmlns:a16="http://schemas.microsoft.com/office/drawing/2014/main" val="759834368"/>
                    </a:ext>
                  </a:extLst>
                </a:gridCol>
                <a:gridCol w="1755815">
                  <a:extLst>
                    <a:ext uri="{9D8B030D-6E8A-4147-A177-3AD203B41FA5}">
                      <a16:colId xmlns:a16="http://schemas.microsoft.com/office/drawing/2014/main" val="2613758719"/>
                    </a:ext>
                  </a:extLst>
                </a:gridCol>
              </a:tblGrid>
              <a:tr h="232429">
                <a:tc>
                  <a:txBody>
                    <a:bodyPr/>
                    <a:lstStyle/>
                    <a:p>
                      <a:pPr algn="ctr">
                        <a:lnSpc>
                          <a:spcPct val="115000"/>
                        </a:lnSpc>
                        <a:spcAft>
                          <a:spcPts val="800"/>
                        </a:spcAft>
                        <a:buNone/>
                      </a:pPr>
                      <a:r>
                        <a:rPr lang="en-IN" sz="1200" kern="0" dirty="0">
                          <a:effectLst/>
                        </a:rPr>
                        <a:t>Zones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IN" sz="1200" kern="0">
                          <a:effectLst/>
                        </a:rPr>
                        <a:t>Total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04020924"/>
                  </a:ext>
                </a:extLst>
              </a:tr>
              <a:tr h="311448">
                <a:tc>
                  <a:txBody>
                    <a:bodyPr/>
                    <a:lstStyle/>
                    <a:p>
                      <a:pPr algn="ctr">
                        <a:lnSpc>
                          <a:spcPct val="115000"/>
                        </a:lnSpc>
                        <a:spcAft>
                          <a:spcPts val="800"/>
                        </a:spcAft>
                        <a:buNone/>
                      </a:pPr>
                      <a:r>
                        <a:rPr lang="en-IN" sz="1200" kern="0">
                          <a:effectLst/>
                        </a:rPr>
                        <a:t>Central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IN" sz="1200" kern="0">
                          <a:effectLst/>
                        </a:rPr>
                        <a:t>41254260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45401178"/>
                  </a:ext>
                </a:extLst>
              </a:tr>
              <a:tr h="311448">
                <a:tc>
                  <a:txBody>
                    <a:bodyPr/>
                    <a:lstStyle/>
                    <a:p>
                      <a:pPr algn="ctr">
                        <a:lnSpc>
                          <a:spcPct val="115000"/>
                        </a:lnSpc>
                        <a:spcAft>
                          <a:spcPts val="800"/>
                        </a:spcAft>
                        <a:buNone/>
                      </a:pPr>
                      <a:r>
                        <a:rPr lang="en-IN" sz="1200" kern="0">
                          <a:effectLst/>
                        </a:rPr>
                        <a:t>East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IN" sz="1200" kern="0">
                          <a:effectLst/>
                        </a:rPr>
                        <a:t>89541595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06770300"/>
                  </a:ext>
                </a:extLst>
              </a:tr>
              <a:tr h="469485">
                <a:tc>
                  <a:txBody>
                    <a:bodyPr/>
                    <a:lstStyle/>
                    <a:p>
                      <a:pPr algn="ctr">
                        <a:lnSpc>
                          <a:spcPct val="115000"/>
                        </a:lnSpc>
                        <a:spcAft>
                          <a:spcPts val="800"/>
                        </a:spcAft>
                        <a:buNone/>
                      </a:pPr>
                      <a:r>
                        <a:rPr lang="en-IN" sz="1200" kern="0">
                          <a:effectLst/>
                        </a:rPr>
                        <a:t>North East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IN" sz="1200" kern="0" dirty="0">
                          <a:effectLst/>
                        </a:rPr>
                        <a:t>54540323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86656682"/>
                  </a:ext>
                </a:extLst>
              </a:tr>
              <a:tr h="390467">
                <a:tc>
                  <a:txBody>
                    <a:bodyPr/>
                    <a:lstStyle/>
                    <a:p>
                      <a:pPr algn="ctr">
                        <a:lnSpc>
                          <a:spcPct val="115000"/>
                        </a:lnSpc>
                        <a:spcAft>
                          <a:spcPts val="800"/>
                        </a:spcAft>
                        <a:buNone/>
                      </a:pPr>
                      <a:r>
                        <a:rPr lang="en-IN" sz="1200" kern="0">
                          <a:effectLst/>
                        </a:rPr>
                        <a:t>North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IN" sz="1200" kern="0">
                          <a:effectLst/>
                        </a:rPr>
                        <a:t>157220198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90601432"/>
                  </a:ext>
                </a:extLst>
              </a:tr>
              <a:tr h="390467">
                <a:tc>
                  <a:txBody>
                    <a:bodyPr/>
                    <a:lstStyle/>
                    <a:p>
                      <a:pPr algn="ctr">
                        <a:lnSpc>
                          <a:spcPct val="115000"/>
                        </a:lnSpc>
                        <a:spcAft>
                          <a:spcPts val="800"/>
                        </a:spcAft>
                        <a:buNone/>
                      </a:pPr>
                      <a:r>
                        <a:rPr lang="en-IN" sz="1200" kern="0">
                          <a:effectLst/>
                        </a:rPr>
                        <a:t>South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IN" sz="1200" kern="0">
                          <a:effectLst/>
                        </a:rPr>
                        <a:t>103419407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04463028"/>
                  </a:ext>
                </a:extLst>
              </a:tr>
              <a:tr h="390467">
                <a:tc>
                  <a:txBody>
                    <a:bodyPr/>
                    <a:lstStyle/>
                    <a:p>
                      <a:pPr algn="ctr">
                        <a:lnSpc>
                          <a:spcPct val="115000"/>
                        </a:lnSpc>
                        <a:spcAft>
                          <a:spcPts val="800"/>
                        </a:spcAft>
                        <a:buNone/>
                      </a:pPr>
                      <a:r>
                        <a:rPr lang="en-IN" sz="1200" kern="0">
                          <a:effectLst/>
                        </a:rPr>
                        <a:t>West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IN" sz="1200" kern="0" dirty="0">
                          <a:effectLst/>
                        </a:rPr>
                        <a:t>223443845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46142465"/>
                  </a:ext>
                </a:extLst>
              </a:tr>
            </a:tbl>
          </a:graphicData>
        </a:graphic>
      </p:graphicFrame>
      <p:graphicFrame>
        <p:nvGraphicFramePr>
          <p:cNvPr id="8" name="Chart 7">
            <a:extLst>
              <a:ext uri="{FF2B5EF4-FFF2-40B4-BE49-F238E27FC236}">
                <a16:creationId xmlns:a16="http://schemas.microsoft.com/office/drawing/2014/main" id="{B3590EE3-8F45-4711-D22F-ACD7DA82278A}"/>
              </a:ext>
            </a:extLst>
          </p:cNvPr>
          <p:cNvGraphicFramePr/>
          <p:nvPr>
            <p:extLst>
              <p:ext uri="{D42A27DB-BD31-4B8C-83A1-F6EECF244321}">
                <p14:modId xmlns:p14="http://schemas.microsoft.com/office/powerpoint/2010/main" val="2938672593"/>
              </p:ext>
            </p:extLst>
          </p:nvPr>
        </p:nvGraphicFramePr>
        <p:xfrm>
          <a:off x="6341807" y="3038020"/>
          <a:ext cx="4658943" cy="3454855"/>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0A7FD9F0-478E-D1FE-8234-5FAEC008CFCF}"/>
              </a:ext>
            </a:extLst>
          </p:cNvPr>
          <p:cNvSpPr txBox="1"/>
          <p:nvPr/>
        </p:nvSpPr>
        <p:spPr>
          <a:xfrm>
            <a:off x="859465" y="1476117"/>
            <a:ext cx="5257800" cy="5016758"/>
          </a:xfrm>
          <a:prstGeom prst="rect">
            <a:avLst/>
          </a:prstGeom>
          <a:noFill/>
        </p:spPr>
        <p:txBody>
          <a:bodyPr wrap="square" rtlCol="0">
            <a:spAutoFit/>
          </a:bodyPr>
          <a:lstStyle/>
          <a:p>
            <a:pPr marL="285750" indent="-285750">
              <a:buFont typeface="Arial" panose="020B0604020202020204" pitchFamily="34" charset="0"/>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The West Zone bears the highest cancer burden, </a:t>
            </a:r>
          </a:p>
          <a:p>
            <a:pPr marL="285750" indent="-285750">
              <a:buFont typeface="Arial" panose="020B0604020202020204" pitchFamily="34" charset="0"/>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North and South Zones, indicating a concentration of cases in these regions. </a:t>
            </a:r>
          </a:p>
          <a:p>
            <a:pPr marL="285750" indent="-285750">
              <a:buFont typeface="Arial" panose="020B0604020202020204" pitchFamily="34" charset="0"/>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The North Zone shows a moderate level of incidence, while the East Zone records substantially fewer cases. </a:t>
            </a:r>
          </a:p>
          <a:p>
            <a:pPr marL="285750" indent="-285750">
              <a:buFont typeface="Arial" panose="020B0604020202020204" pitchFamily="34" charset="0"/>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The Central Zone reports the lowest cancer burden among the zones. </a:t>
            </a:r>
          </a:p>
          <a:p>
            <a:pPr marL="285750" indent="-285750">
              <a:buFont typeface="Arial" panose="020B0604020202020204" pitchFamily="34" charset="0"/>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Overall, the findings highlight uneven distribution of cancer cases, with certain zones experiencing disproportionately higher prevalence underscoring the need for zone specific health planning and resource allocation.</a:t>
            </a:r>
            <a:endParaRPr lang="en-US" altLang="en-US" sz="2000" dirty="0">
              <a:latin typeface="Arial" panose="020B0604020202020204" pitchFamily="34" charset="0"/>
            </a:endParaRPr>
          </a:p>
          <a:p>
            <a:endParaRPr lang="en-IN" sz="2000" dirty="0"/>
          </a:p>
        </p:txBody>
      </p:sp>
    </p:spTree>
    <p:extLst>
      <p:ext uri="{BB962C8B-B14F-4D97-AF65-F5344CB8AC3E}">
        <p14:creationId xmlns:p14="http://schemas.microsoft.com/office/powerpoint/2010/main" val="1927414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D5C1-CE77-3157-F2B5-5C114D9735A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84BF45C-0D5E-7670-B936-A18023D6FA60}"/>
              </a:ext>
            </a:extLst>
          </p:cNvPr>
          <p:cNvSpPr>
            <a:spLocks noGrp="1"/>
          </p:cNvSpPr>
          <p:nvPr>
            <p:ph type="title"/>
          </p:nvPr>
        </p:nvSpPr>
        <p:spPr>
          <a:xfrm>
            <a:off x="724158" y="1295463"/>
            <a:ext cx="6482186" cy="1325563"/>
          </a:xfrm>
        </p:spPr>
        <p:txBody>
          <a:bodyPr>
            <a:normAutofit fontScale="90000"/>
          </a:bodyPr>
          <a:lstStyle/>
          <a:p>
            <a:pPr lvl="0" eaLnBrk="0" fontAlgn="base" hangingPunct="0">
              <a:lnSpc>
                <a:spcPct val="100000"/>
              </a:lnSpc>
              <a:spcAft>
                <a:spcPct val="0"/>
              </a:spcAft>
            </a:pPr>
            <a:r>
              <a:rPr lang="en-US" altLang="en-US" b="1" dirty="0">
                <a:latin typeface="Calibri" panose="020F0502020204030204" pitchFamily="34" charset="0"/>
                <a:ea typeface="Calibri" panose="020F0502020204030204" pitchFamily="34" charset="0"/>
                <a:cs typeface="Times New Roman" panose="02020603050405020304" pitchFamily="18" charset="0"/>
              </a:rPr>
              <a:t>Age group highly prone to cancer</a:t>
            </a:r>
            <a:br>
              <a:rPr lang="en-US" altLang="en-US" sz="2800" dirty="0"/>
            </a:br>
            <a:br>
              <a:rPr lang="en-US" altLang="en-US" sz="6600" dirty="0">
                <a:latin typeface="Arial" panose="020B0604020202020204" pitchFamily="34" charset="0"/>
              </a:rPr>
            </a:br>
            <a:endParaRPr lang="en-IN" dirty="0"/>
          </a:p>
        </p:txBody>
      </p:sp>
      <p:graphicFrame>
        <p:nvGraphicFramePr>
          <p:cNvPr id="11" name="Content Placeholder 10">
            <a:extLst>
              <a:ext uri="{FF2B5EF4-FFF2-40B4-BE49-F238E27FC236}">
                <a16:creationId xmlns:a16="http://schemas.microsoft.com/office/drawing/2014/main" id="{E28C71CF-D9A9-9D02-2DDF-530B90148F64}"/>
              </a:ext>
            </a:extLst>
          </p:cNvPr>
          <p:cNvGraphicFramePr>
            <a:graphicFrameLocks noGrp="1"/>
          </p:cNvGraphicFramePr>
          <p:nvPr>
            <p:ph idx="1"/>
            <p:extLst>
              <p:ext uri="{D42A27DB-BD31-4B8C-83A1-F6EECF244321}">
                <p14:modId xmlns:p14="http://schemas.microsoft.com/office/powerpoint/2010/main" val="570874291"/>
              </p:ext>
            </p:extLst>
          </p:nvPr>
        </p:nvGraphicFramePr>
        <p:xfrm>
          <a:off x="7315200" y="190260"/>
          <a:ext cx="3887439" cy="3445576"/>
        </p:xfrm>
        <a:graphic>
          <a:graphicData uri="http://schemas.openxmlformats.org/drawingml/2006/table">
            <a:tbl>
              <a:tblPr firstRow="1" firstCol="1" bandRow="1">
                <a:tableStyleId>{5C22544A-7EE6-4342-B048-85BDC9FD1C3A}</a:tableStyleId>
              </a:tblPr>
              <a:tblGrid>
                <a:gridCol w="1545808">
                  <a:extLst>
                    <a:ext uri="{9D8B030D-6E8A-4147-A177-3AD203B41FA5}">
                      <a16:colId xmlns:a16="http://schemas.microsoft.com/office/drawing/2014/main" val="149126188"/>
                    </a:ext>
                  </a:extLst>
                </a:gridCol>
                <a:gridCol w="2341631">
                  <a:extLst>
                    <a:ext uri="{9D8B030D-6E8A-4147-A177-3AD203B41FA5}">
                      <a16:colId xmlns:a16="http://schemas.microsoft.com/office/drawing/2014/main" val="2323277998"/>
                    </a:ext>
                  </a:extLst>
                </a:gridCol>
              </a:tblGrid>
              <a:tr h="379928">
                <a:tc>
                  <a:txBody>
                    <a:bodyPr/>
                    <a:lstStyle/>
                    <a:p>
                      <a:pPr algn="ctr">
                        <a:lnSpc>
                          <a:spcPct val="107000"/>
                        </a:lnSpc>
                        <a:spcAft>
                          <a:spcPts val="800"/>
                        </a:spcAft>
                        <a:buNone/>
                      </a:pPr>
                      <a:r>
                        <a:rPr lang="en-IN" sz="1200" kern="0">
                          <a:effectLst/>
                        </a:rPr>
                        <a:t>Age Group</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Total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56986611"/>
                  </a:ext>
                </a:extLst>
              </a:tr>
              <a:tr h="191603">
                <a:tc>
                  <a:txBody>
                    <a:bodyPr/>
                    <a:lstStyle/>
                    <a:p>
                      <a:pPr algn="ctr">
                        <a:lnSpc>
                          <a:spcPct val="107000"/>
                        </a:lnSpc>
                        <a:spcAft>
                          <a:spcPts val="800"/>
                        </a:spcAft>
                        <a:buNone/>
                      </a:pPr>
                      <a:r>
                        <a:rPr lang="en-IN" sz="1200" kern="0">
                          <a:effectLst/>
                        </a:rPr>
                        <a:t>00-04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23456241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629627597"/>
                  </a:ext>
                </a:extLst>
              </a:tr>
              <a:tr h="191603">
                <a:tc>
                  <a:txBody>
                    <a:bodyPr/>
                    <a:lstStyle/>
                    <a:p>
                      <a:pPr algn="ctr">
                        <a:lnSpc>
                          <a:spcPct val="107000"/>
                        </a:lnSpc>
                        <a:spcAft>
                          <a:spcPts val="800"/>
                        </a:spcAft>
                        <a:buNone/>
                      </a:pPr>
                      <a:r>
                        <a:rPr lang="en-IN" sz="1200" kern="0">
                          <a:effectLst/>
                        </a:rPr>
                        <a:t>05-09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24373027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435901676"/>
                  </a:ext>
                </a:extLst>
              </a:tr>
              <a:tr h="191603">
                <a:tc>
                  <a:txBody>
                    <a:bodyPr/>
                    <a:lstStyle/>
                    <a:p>
                      <a:pPr algn="ctr">
                        <a:lnSpc>
                          <a:spcPct val="107000"/>
                        </a:lnSpc>
                        <a:spcAft>
                          <a:spcPts val="800"/>
                        </a:spcAft>
                        <a:buNone/>
                      </a:pPr>
                      <a:r>
                        <a:rPr lang="en-IN" sz="1200" kern="0">
                          <a:effectLst/>
                        </a:rPr>
                        <a:t>10-14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25635098.5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45789301"/>
                  </a:ext>
                </a:extLst>
              </a:tr>
              <a:tr h="191603">
                <a:tc>
                  <a:txBody>
                    <a:bodyPr/>
                    <a:lstStyle/>
                    <a:p>
                      <a:pPr algn="ctr">
                        <a:lnSpc>
                          <a:spcPct val="107000"/>
                        </a:lnSpc>
                        <a:spcAft>
                          <a:spcPts val="800"/>
                        </a:spcAft>
                        <a:buNone/>
                      </a:pPr>
                      <a:r>
                        <a:rPr lang="en-IN" sz="1200" kern="0">
                          <a:effectLst/>
                        </a:rPr>
                        <a:t>15-19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26876491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29919782"/>
                  </a:ext>
                </a:extLst>
              </a:tr>
              <a:tr h="191603">
                <a:tc>
                  <a:txBody>
                    <a:bodyPr/>
                    <a:lstStyle/>
                    <a:p>
                      <a:pPr algn="ctr">
                        <a:lnSpc>
                          <a:spcPct val="107000"/>
                        </a:lnSpc>
                        <a:spcAft>
                          <a:spcPts val="800"/>
                        </a:spcAft>
                        <a:buNone/>
                      </a:pPr>
                      <a:r>
                        <a:rPr lang="en-IN" sz="1200" kern="0">
                          <a:effectLst/>
                        </a:rPr>
                        <a:t>20-24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30442587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49348847"/>
                  </a:ext>
                </a:extLst>
              </a:tr>
              <a:tr h="191603">
                <a:tc>
                  <a:txBody>
                    <a:bodyPr/>
                    <a:lstStyle/>
                    <a:p>
                      <a:pPr algn="ctr">
                        <a:lnSpc>
                          <a:spcPct val="107000"/>
                        </a:lnSpc>
                        <a:spcAft>
                          <a:spcPts val="800"/>
                        </a:spcAft>
                        <a:buNone/>
                      </a:pPr>
                      <a:r>
                        <a:rPr lang="en-IN" sz="1200" kern="0">
                          <a:effectLst/>
                        </a:rPr>
                        <a:t>25-29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29320648.5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09494877"/>
                  </a:ext>
                </a:extLst>
              </a:tr>
              <a:tr h="191603">
                <a:tc>
                  <a:txBody>
                    <a:bodyPr/>
                    <a:lstStyle/>
                    <a:p>
                      <a:pPr algn="ctr">
                        <a:lnSpc>
                          <a:spcPct val="107000"/>
                        </a:lnSpc>
                        <a:spcAft>
                          <a:spcPts val="800"/>
                        </a:spcAft>
                        <a:buNone/>
                      </a:pPr>
                      <a:r>
                        <a:rPr lang="en-IN" sz="1200" kern="0">
                          <a:effectLst/>
                        </a:rPr>
                        <a:t>30-34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25468697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839241044"/>
                  </a:ext>
                </a:extLst>
              </a:tr>
              <a:tr h="191603">
                <a:tc>
                  <a:txBody>
                    <a:bodyPr/>
                    <a:lstStyle/>
                    <a:p>
                      <a:pPr algn="ctr">
                        <a:lnSpc>
                          <a:spcPct val="107000"/>
                        </a:lnSpc>
                        <a:spcAft>
                          <a:spcPts val="800"/>
                        </a:spcAft>
                        <a:buNone/>
                      </a:pPr>
                      <a:r>
                        <a:rPr lang="en-IN" sz="1200" kern="0">
                          <a:effectLst/>
                        </a:rPr>
                        <a:t>35-39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23097636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954834232"/>
                  </a:ext>
                </a:extLst>
              </a:tr>
              <a:tr h="191603">
                <a:tc>
                  <a:txBody>
                    <a:bodyPr/>
                    <a:lstStyle/>
                    <a:p>
                      <a:pPr algn="ctr">
                        <a:lnSpc>
                          <a:spcPct val="107000"/>
                        </a:lnSpc>
                        <a:spcAft>
                          <a:spcPts val="800"/>
                        </a:spcAft>
                        <a:buNone/>
                      </a:pPr>
                      <a:r>
                        <a:rPr lang="en-IN" sz="1200" kern="0">
                          <a:effectLst/>
                        </a:rPr>
                        <a:t>40-44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19860908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31596676"/>
                  </a:ext>
                </a:extLst>
              </a:tr>
              <a:tr h="191603">
                <a:tc>
                  <a:txBody>
                    <a:bodyPr/>
                    <a:lstStyle/>
                    <a:p>
                      <a:pPr algn="ctr">
                        <a:lnSpc>
                          <a:spcPct val="107000"/>
                        </a:lnSpc>
                        <a:spcAft>
                          <a:spcPts val="800"/>
                        </a:spcAft>
                        <a:buNone/>
                      </a:pPr>
                      <a:r>
                        <a:rPr lang="en-IN" sz="1200" kern="0">
                          <a:effectLst/>
                        </a:rPr>
                        <a:t>45-49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17065502.5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62925832"/>
                  </a:ext>
                </a:extLst>
              </a:tr>
              <a:tr h="191603">
                <a:tc>
                  <a:txBody>
                    <a:bodyPr/>
                    <a:lstStyle/>
                    <a:p>
                      <a:pPr algn="ctr">
                        <a:lnSpc>
                          <a:spcPct val="107000"/>
                        </a:lnSpc>
                        <a:spcAft>
                          <a:spcPts val="800"/>
                        </a:spcAft>
                        <a:buNone/>
                      </a:pPr>
                      <a:r>
                        <a:rPr lang="en-IN" sz="1200" kern="0">
                          <a:effectLst/>
                        </a:rPr>
                        <a:t>50-54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13595898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376550255"/>
                  </a:ext>
                </a:extLst>
              </a:tr>
              <a:tr h="191603">
                <a:tc>
                  <a:txBody>
                    <a:bodyPr/>
                    <a:lstStyle/>
                    <a:p>
                      <a:pPr algn="ctr">
                        <a:lnSpc>
                          <a:spcPct val="107000"/>
                        </a:lnSpc>
                        <a:spcAft>
                          <a:spcPts val="800"/>
                        </a:spcAft>
                        <a:buNone/>
                      </a:pPr>
                      <a:r>
                        <a:rPr lang="en-IN" sz="1200" kern="0">
                          <a:effectLst/>
                        </a:rPr>
                        <a:t>55-59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10586263.5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40305364"/>
                  </a:ext>
                </a:extLst>
              </a:tr>
              <a:tr h="191603">
                <a:tc>
                  <a:txBody>
                    <a:bodyPr/>
                    <a:lstStyle/>
                    <a:p>
                      <a:pPr algn="ctr">
                        <a:lnSpc>
                          <a:spcPct val="107000"/>
                        </a:lnSpc>
                        <a:spcAft>
                          <a:spcPts val="800"/>
                        </a:spcAft>
                        <a:buNone/>
                      </a:pPr>
                      <a:r>
                        <a:rPr lang="en-IN" sz="1200" kern="0">
                          <a:effectLst/>
                        </a:rPr>
                        <a:t>60-64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8912146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13456043"/>
                  </a:ext>
                </a:extLst>
              </a:tr>
              <a:tr h="191603">
                <a:tc>
                  <a:txBody>
                    <a:bodyPr/>
                    <a:lstStyle/>
                    <a:p>
                      <a:pPr algn="ctr">
                        <a:lnSpc>
                          <a:spcPct val="107000"/>
                        </a:lnSpc>
                        <a:spcAft>
                          <a:spcPts val="800"/>
                        </a:spcAft>
                        <a:buNone/>
                      </a:pPr>
                      <a:r>
                        <a:rPr lang="en-IN" sz="1200" kern="0">
                          <a:effectLst/>
                        </a:rPr>
                        <a:t>65-69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5981238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008735528"/>
                  </a:ext>
                </a:extLst>
              </a:tr>
              <a:tr h="191603">
                <a:tc>
                  <a:txBody>
                    <a:bodyPr/>
                    <a:lstStyle/>
                    <a:p>
                      <a:pPr algn="ctr">
                        <a:lnSpc>
                          <a:spcPct val="107000"/>
                        </a:lnSpc>
                        <a:spcAft>
                          <a:spcPts val="800"/>
                        </a:spcAft>
                        <a:buNone/>
                      </a:pPr>
                      <a:r>
                        <a:rPr lang="en-IN" sz="1200" kern="0">
                          <a:effectLst/>
                        </a:rPr>
                        <a:t>70-74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4558818.5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691771831"/>
                  </a:ext>
                </a:extLst>
              </a:tr>
              <a:tr h="191603">
                <a:tc>
                  <a:txBody>
                    <a:bodyPr/>
                    <a:lstStyle/>
                    <a:p>
                      <a:pPr algn="ctr">
                        <a:lnSpc>
                          <a:spcPct val="107000"/>
                        </a:lnSpc>
                        <a:spcAft>
                          <a:spcPts val="800"/>
                        </a:spcAft>
                        <a:buNone/>
                      </a:pPr>
                      <a:r>
                        <a:rPr lang="en-IN" sz="1200" kern="0">
                          <a:effectLst/>
                        </a:rPr>
                        <a:t>75+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dirty="0">
                          <a:effectLst/>
                        </a:rPr>
                        <a:t>5785554.5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91962941"/>
                  </a:ext>
                </a:extLst>
              </a:tr>
            </a:tbl>
          </a:graphicData>
        </a:graphic>
      </p:graphicFrame>
      <p:sp>
        <p:nvSpPr>
          <p:cNvPr id="13" name="Text Box 12">
            <a:extLst>
              <a:ext uri="{FF2B5EF4-FFF2-40B4-BE49-F238E27FC236}">
                <a16:creationId xmlns:a16="http://schemas.microsoft.com/office/drawing/2014/main" id="{291968B8-9109-EC11-1FF1-F14BCEC62959}"/>
              </a:ext>
            </a:extLst>
          </p:cNvPr>
          <p:cNvSpPr txBox="1">
            <a:spLocks noChangeArrowheads="1"/>
          </p:cNvSpPr>
          <p:nvPr/>
        </p:nvSpPr>
        <p:spPr bwMode="auto">
          <a:xfrm>
            <a:off x="6286661" y="6420089"/>
            <a:ext cx="5688006" cy="49530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Fig 1.8: Graphical Representation of Age wise distribution of Cancer Cases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 Box 3">
            <a:extLst>
              <a:ext uri="{FF2B5EF4-FFF2-40B4-BE49-F238E27FC236}">
                <a16:creationId xmlns:a16="http://schemas.microsoft.com/office/drawing/2014/main" id="{776A8224-BE63-9501-F487-16DDBB220952}"/>
              </a:ext>
            </a:extLst>
          </p:cNvPr>
          <p:cNvSpPr txBox="1">
            <a:spLocks noChangeArrowheads="1"/>
          </p:cNvSpPr>
          <p:nvPr/>
        </p:nvSpPr>
        <p:spPr bwMode="auto">
          <a:xfrm>
            <a:off x="7957458" y="3691207"/>
            <a:ext cx="3190875" cy="34290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Table 1.8: Age wise distribution of Cancer Cases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Chart 14">
            <a:extLst>
              <a:ext uri="{FF2B5EF4-FFF2-40B4-BE49-F238E27FC236}">
                <a16:creationId xmlns:a16="http://schemas.microsoft.com/office/drawing/2014/main" id="{804C1733-7FCA-61EB-71AB-3273A3560302}"/>
              </a:ext>
            </a:extLst>
          </p:cNvPr>
          <p:cNvGraphicFramePr/>
          <p:nvPr>
            <p:extLst>
              <p:ext uri="{D42A27DB-BD31-4B8C-83A1-F6EECF244321}">
                <p14:modId xmlns:p14="http://schemas.microsoft.com/office/powerpoint/2010/main" val="652954110"/>
              </p:ext>
            </p:extLst>
          </p:nvPr>
        </p:nvGraphicFramePr>
        <p:xfrm>
          <a:off x="6906290" y="3956204"/>
          <a:ext cx="5165967" cy="2711535"/>
        </p:xfrm>
        <a:graphic>
          <a:graphicData uri="http://schemas.openxmlformats.org/drawingml/2006/chart">
            <c:chart xmlns:c="http://schemas.openxmlformats.org/drawingml/2006/chart" xmlns:r="http://schemas.openxmlformats.org/officeDocument/2006/relationships" r:id="rId2"/>
          </a:graphicData>
        </a:graphic>
      </p:graphicFrame>
      <p:sp>
        <p:nvSpPr>
          <p:cNvPr id="18" name="Rectangle 8">
            <a:extLst>
              <a:ext uri="{FF2B5EF4-FFF2-40B4-BE49-F238E27FC236}">
                <a16:creationId xmlns:a16="http://schemas.microsoft.com/office/drawing/2014/main" id="{AA21BF38-F88E-956A-5795-C5A076F5A01C}"/>
              </a:ext>
            </a:extLst>
          </p:cNvPr>
          <p:cNvSpPr>
            <a:spLocks noChangeArrowheads="1"/>
          </p:cNvSpPr>
          <p:nvPr/>
        </p:nvSpPr>
        <p:spPr bwMode="auto">
          <a:xfrm>
            <a:off x="615302" y="1662054"/>
            <a:ext cx="611777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Cancer incidence increases steadily from early childhood to young adulthood, peaking in the 20-24 age group.</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High case numbers persist through the 25-29 and 30-34 age groups, after which a gradual decline is observed.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From the 40-44 age group onward, the decrease becomes more pronounced</a:t>
            </a:r>
            <a:r>
              <a:rPr lang="en-US" altLang="en-US" sz="2000" dirty="0">
                <a:latin typeface="Calibri" panose="020F0502020204030204" pitchFamily="34" charset="0"/>
                <a:ea typeface="Calibri" panose="020F0502020204030204" pitchFamily="34"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Overall, the findings indicate a disproportionately higher cancer burden among younger and middle-aged adults, highlighting the importance of targeted awareness programs, early screening and preventive innervations focused on younger age groups.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8311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C3BF9-208E-B992-501D-12F4ED9F0DAF}"/>
            </a:ext>
          </a:extLst>
        </p:cNvPr>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10C649CD-04F7-0E97-7DDE-2406058A54FC}"/>
              </a:ext>
            </a:extLst>
          </p:cNvPr>
          <p:cNvGraphicFramePr/>
          <p:nvPr/>
        </p:nvGraphicFramePr>
        <p:xfrm>
          <a:off x="838200" y="3445972"/>
          <a:ext cx="4426689" cy="2464779"/>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2">
            <a:extLst>
              <a:ext uri="{FF2B5EF4-FFF2-40B4-BE49-F238E27FC236}">
                <a16:creationId xmlns:a16="http://schemas.microsoft.com/office/drawing/2014/main" id="{6D6E8AD9-2CFF-A2AE-E8C9-C3CDCA19158C}"/>
              </a:ext>
            </a:extLst>
          </p:cNvPr>
          <p:cNvSpPr>
            <a:spLocks noGrp="1"/>
          </p:cNvSpPr>
          <p:nvPr>
            <p:ph type="title"/>
          </p:nvPr>
        </p:nvSpPr>
        <p:spPr>
          <a:xfrm>
            <a:off x="838200" y="623546"/>
            <a:ext cx="10515600" cy="1325563"/>
          </a:xfrm>
        </p:spPr>
        <p:txBody>
          <a:bodyPr>
            <a:normAutofit fontScale="90000"/>
          </a:bodyPr>
          <a:lstStyle/>
          <a:p>
            <a:pPr lvl="0" eaLnBrk="0" fontAlgn="base" hangingPunct="0">
              <a:lnSpc>
                <a:spcPct val="100000"/>
              </a:lnSpc>
              <a:spcAft>
                <a:spcPct val="0"/>
              </a:spcAft>
            </a:pPr>
            <a:r>
              <a:rPr lang="en-US" altLang="en-US" dirty="0">
                <a:latin typeface="Calibri" panose="020F0502020204030204" pitchFamily="34" charset="0"/>
                <a:ea typeface="Calibri" panose="020F0502020204030204" pitchFamily="34" charset="0"/>
                <a:cs typeface="Times New Roman" panose="02020603050405020304" pitchFamily="18" charset="0"/>
              </a:rPr>
              <a:t>Region wise gender analysis of cancer patients</a:t>
            </a:r>
            <a:br>
              <a:rPr lang="en-US" altLang="en-US" sz="2800" dirty="0"/>
            </a:br>
            <a:br>
              <a:rPr lang="en-US" altLang="en-US" sz="6600" dirty="0">
                <a:latin typeface="Arial" panose="020B0604020202020204" pitchFamily="34" charset="0"/>
              </a:rPr>
            </a:br>
            <a:endParaRPr lang="en-IN" dirty="0"/>
          </a:p>
        </p:txBody>
      </p:sp>
      <p:graphicFrame>
        <p:nvGraphicFramePr>
          <p:cNvPr id="4" name="Table 3">
            <a:extLst>
              <a:ext uri="{FF2B5EF4-FFF2-40B4-BE49-F238E27FC236}">
                <a16:creationId xmlns:a16="http://schemas.microsoft.com/office/drawing/2014/main" id="{1098F1F9-40D3-9F39-494A-D5694FC8D7A1}"/>
              </a:ext>
            </a:extLst>
          </p:cNvPr>
          <p:cNvGraphicFramePr>
            <a:graphicFrameLocks noGrp="1"/>
          </p:cNvGraphicFramePr>
          <p:nvPr>
            <p:extLst>
              <p:ext uri="{D42A27DB-BD31-4B8C-83A1-F6EECF244321}">
                <p14:modId xmlns:p14="http://schemas.microsoft.com/office/powerpoint/2010/main" val="708394770"/>
              </p:ext>
            </p:extLst>
          </p:nvPr>
        </p:nvGraphicFramePr>
        <p:xfrm>
          <a:off x="978172" y="913720"/>
          <a:ext cx="4393928" cy="2070779"/>
        </p:xfrm>
        <a:graphic>
          <a:graphicData uri="http://schemas.openxmlformats.org/drawingml/2006/table">
            <a:tbl>
              <a:tblPr firstRow="1" firstCol="1" bandRow="1">
                <a:tableStyleId>{5C22544A-7EE6-4342-B048-85BDC9FD1C3A}</a:tableStyleId>
              </a:tblPr>
              <a:tblGrid>
                <a:gridCol w="1436196">
                  <a:extLst>
                    <a:ext uri="{9D8B030D-6E8A-4147-A177-3AD203B41FA5}">
                      <a16:colId xmlns:a16="http://schemas.microsoft.com/office/drawing/2014/main" val="517260668"/>
                    </a:ext>
                  </a:extLst>
                </a:gridCol>
                <a:gridCol w="1478866">
                  <a:extLst>
                    <a:ext uri="{9D8B030D-6E8A-4147-A177-3AD203B41FA5}">
                      <a16:colId xmlns:a16="http://schemas.microsoft.com/office/drawing/2014/main" val="2696313512"/>
                    </a:ext>
                  </a:extLst>
                </a:gridCol>
                <a:gridCol w="1478866">
                  <a:extLst>
                    <a:ext uri="{9D8B030D-6E8A-4147-A177-3AD203B41FA5}">
                      <a16:colId xmlns:a16="http://schemas.microsoft.com/office/drawing/2014/main" val="1899758898"/>
                    </a:ext>
                  </a:extLst>
                </a:gridCol>
              </a:tblGrid>
              <a:tr h="255927">
                <a:tc>
                  <a:txBody>
                    <a:bodyPr/>
                    <a:lstStyle/>
                    <a:p>
                      <a:pPr algn="ctr">
                        <a:lnSpc>
                          <a:spcPct val="107000"/>
                        </a:lnSpc>
                        <a:spcAft>
                          <a:spcPts val="800"/>
                        </a:spcAft>
                        <a:buNone/>
                      </a:pPr>
                      <a:r>
                        <a:rPr lang="en-IN" sz="1200" kern="0">
                          <a:effectLst/>
                        </a:rPr>
                        <a:t>Zones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Males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buNone/>
                      </a:pPr>
                      <a:r>
                        <a:rPr lang="en-IN" sz="1200" kern="0">
                          <a:effectLst/>
                        </a:rPr>
                        <a:t>Females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426060998"/>
                  </a:ext>
                </a:extLst>
              </a:tr>
              <a:tr h="395572">
                <a:tc>
                  <a:txBody>
                    <a:bodyPr/>
                    <a:lstStyle/>
                    <a:p>
                      <a:pPr>
                        <a:lnSpc>
                          <a:spcPct val="107000"/>
                        </a:lnSpc>
                        <a:spcAft>
                          <a:spcPts val="800"/>
                        </a:spcAft>
                        <a:buNone/>
                      </a:pPr>
                      <a:r>
                        <a:rPr lang="en-IN" sz="1200" kern="0">
                          <a:effectLst/>
                        </a:rPr>
                        <a:t>Central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4280917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3969935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21616407"/>
                  </a:ext>
                </a:extLst>
              </a:tr>
              <a:tr h="255927">
                <a:tc>
                  <a:txBody>
                    <a:bodyPr/>
                    <a:lstStyle/>
                    <a:p>
                      <a:pPr>
                        <a:lnSpc>
                          <a:spcPct val="107000"/>
                        </a:lnSpc>
                        <a:spcAft>
                          <a:spcPts val="800"/>
                        </a:spcAft>
                        <a:buNone/>
                      </a:pPr>
                      <a:r>
                        <a:rPr lang="en-IN" sz="1200" kern="0">
                          <a:effectLst/>
                        </a:rPr>
                        <a:t>East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9270946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8637373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694633070"/>
                  </a:ext>
                </a:extLst>
              </a:tr>
              <a:tr h="395572">
                <a:tc>
                  <a:txBody>
                    <a:bodyPr/>
                    <a:lstStyle/>
                    <a:p>
                      <a:pPr>
                        <a:lnSpc>
                          <a:spcPct val="107000"/>
                        </a:lnSpc>
                        <a:spcAft>
                          <a:spcPts val="800"/>
                        </a:spcAft>
                        <a:buNone/>
                      </a:pPr>
                      <a:r>
                        <a:rPr lang="en-IN" sz="1200" kern="0">
                          <a:effectLst/>
                        </a:rPr>
                        <a:t>North East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27541445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26998878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25481220"/>
                  </a:ext>
                </a:extLst>
              </a:tr>
              <a:tr h="255927">
                <a:tc>
                  <a:txBody>
                    <a:bodyPr/>
                    <a:lstStyle/>
                    <a:p>
                      <a:pPr>
                        <a:lnSpc>
                          <a:spcPct val="107000"/>
                        </a:lnSpc>
                        <a:spcAft>
                          <a:spcPts val="800"/>
                        </a:spcAft>
                        <a:buNone/>
                      </a:pPr>
                      <a:r>
                        <a:rPr lang="en-IN" sz="1200" kern="0">
                          <a:effectLst/>
                        </a:rPr>
                        <a:t>North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32929570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29958509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379306078"/>
                  </a:ext>
                </a:extLst>
              </a:tr>
              <a:tr h="255927">
                <a:tc>
                  <a:txBody>
                    <a:bodyPr/>
                    <a:lstStyle/>
                    <a:p>
                      <a:pPr>
                        <a:lnSpc>
                          <a:spcPct val="107000"/>
                        </a:lnSpc>
                        <a:spcAft>
                          <a:spcPts val="800"/>
                        </a:spcAft>
                        <a:buNone/>
                      </a:pPr>
                      <a:r>
                        <a:rPr lang="en-IN" sz="1200" kern="0">
                          <a:effectLst/>
                        </a:rPr>
                        <a:t>South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31641265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30410379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99344634"/>
                  </a:ext>
                </a:extLst>
              </a:tr>
              <a:tr h="255927">
                <a:tc>
                  <a:txBody>
                    <a:bodyPr/>
                    <a:lstStyle/>
                    <a:p>
                      <a:pPr>
                        <a:lnSpc>
                          <a:spcPct val="107000"/>
                        </a:lnSpc>
                        <a:spcAft>
                          <a:spcPts val="800"/>
                        </a:spcAft>
                        <a:buNone/>
                      </a:pPr>
                      <a:r>
                        <a:rPr lang="en-IN" sz="1200" kern="0">
                          <a:effectLst/>
                        </a:rPr>
                        <a:t>West Zone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a:effectLst/>
                        </a:rPr>
                        <a:t>46436043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buNone/>
                      </a:pPr>
                      <a:r>
                        <a:rPr lang="en-IN" sz="1200" kern="0" dirty="0">
                          <a:effectLst/>
                        </a:rPr>
                        <a:t>42941495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98534055"/>
                  </a:ext>
                </a:extLst>
              </a:tr>
            </a:tbl>
          </a:graphicData>
        </a:graphic>
      </p:graphicFrame>
      <p:sp>
        <p:nvSpPr>
          <p:cNvPr id="5" name="Text Box 12">
            <a:extLst>
              <a:ext uri="{FF2B5EF4-FFF2-40B4-BE49-F238E27FC236}">
                <a16:creationId xmlns:a16="http://schemas.microsoft.com/office/drawing/2014/main" id="{1AC9E8E3-4A8F-F335-A3E8-9D0ABD31841F}"/>
              </a:ext>
            </a:extLst>
          </p:cNvPr>
          <p:cNvSpPr txBox="1">
            <a:spLocks noChangeArrowheads="1"/>
          </p:cNvSpPr>
          <p:nvPr/>
        </p:nvSpPr>
        <p:spPr bwMode="auto">
          <a:xfrm>
            <a:off x="978172" y="5966802"/>
            <a:ext cx="5117828" cy="55245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Fig 2.0: Graphical Representation of Gender wise distribution of Cancer</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cases in every zone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3">
            <a:extLst>
              <a:ext uri="{FF2B5EF4-FFF2-40B4-BE49-F238E27FC236}">
                <a16:creationId xmlns:a16="http://schemas.microsoft.com/office/drawing/2014/main" id="{BFE859B5-B432-AAC7-C925-4AAE465C0EA4}"/>
              </a:ext>
            </a:extLst>
          </p:cNvPr>
          <p:cNvSpPr txBox="1">
            <a:spLocks noChangeArrowheads="1"/>
          </p:cNvSpPr>
          <p:nvPr/>
        </p:nvSpPr>
        <p:spPr bwMode="auto">
          <a:xfrm>
            <a:off x="978171" y="3037454"/>
            <a:ext cx="4393927" cy="352468"/>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Table 2.0: Gender wise distribution of Cancer cases in every zone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1" name="Chart 10">
            <a:extLst>
              <a:ext uri="{FF2B5EF4-FFF2-40B4-BE49-F238E27FC236}">
                <a16:creationId xmlns:a16="http://schemas.microsoft.com/office/drawing/2014/main" id="{BB6FE7B1-7187-354A-8E51-13E29AF2ECC4}"/>
              </a:ext>
            </a:extLst>
          </p:cNvPr>
          <p:cNvGraphicFramePr/>
          <p:nvPr>
            <p:extLst>
              <p:ext uri="{D42A27DB-BD31-4B8C-83A1-F6EECF244321}">
                <p14:modId xmlns:p14="http://schemas.microsoft.com/office/powerpoint/2010/main" val="4034465132"/>
              </p:ext>
            </p:extLst>
          </p:nvPr>
        </p:nvGraphicFramePr>
        <p:xfrm>
          <a:off x="838200" y="3429000"/>
          <a:ext cx="5389572" cy="2698705"/>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8">
            <a:extLst>
              <a:ext uri="{FF2B5EF4-FFF2-40B4-BE49-F238E27FC236}">
                <a16:creationId xmlns:a16="http://schemas.microsoft.com/office/drawing/2014/main" id="{2819AAE3-0688-7F9D-CADD-D2E5B64A373F}"/>
              </a:ext>
            </a:extLst>
          </p:cNvPr>
          <p:cNvSpPr>
            <a:spLocks noChangeArrowheads="1"/>
          </p:cNvSpPr>
          <p:nvPr/>
        </p:nvSpPr>
        <p:spPr bwMode="auto">
          <a:xfrm>
            <a:off x="6540774" y="859198"/>
            <a:ext cx="495299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Overall, male cases are marginally higher than female cases in most zones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Central and East Zones report relatively lower-case counts, with the East Zone uniquely showing slightly higher female cases.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Cancer incidence rises sharply in the North-East, North and South Zones where both genders record high and closely aligned case number of cases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Overall, the findings emphasize the need for zone-specific cancer surveillance and strengthened healthcare infrastructure, particularly in high-burden regions such as the North, South and West Zones.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8674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C00DE-A965-C281-F268-826FDC866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FB135-20D6-C6F7-7460-976344D554A6}"/>
              </a:ext>
            </a:extLst>
          </p:cNvPr>
          <p:cNvSpPr>
            <a:spLocks noGrp="1"/>
          </p:cNvSpPr>
          <p:nvPr>
            <p:ph type="ctrTitle"/>
          </p:nvPr>
        </p:nvSpPr>
        <p:spPr>
          <a:xfrm>
            <a:off x="2010139" y="2427790"/>
            <a:ext cx="8349204" cy="2002419"/>
          </a:xfrm>
          <a:effectLst>
            <a:outerShdw blurRad="50800" dist="38100" dir="2700000" algn="tl" rotWithShape="0">
              <a:prstClr val="black">
                <a:alpha val="40000"/>
              </a:prstClr>
            </a:outerShdw>
          </a:effectLst>
        </p:spPr>
        <p:txBody>
          <a:bodyPr>
            <a:normAutofit/>
          </a:bodyPr>
          <a:lstStyle/>
          <a:p>
            <a:r>
              <a:rPr lang="en-US" dirty="0">
                <a:solidFill>
                  <a:schemeClr val="accent4"/>
                </a:solidFill>
                <a:latin typeface="Arial Black" panose="020B0A04020102020204" pitchFamily="34" charset="0"/>
                <a:ea typeface="+mn-ea"/>
                <a:cs typeface="+mn-cs"/>
              </a:rPr>
              <a:t>HYPOTHESIS</a:t>
            </a:r>
            <a:br>
              <a:rPr lang="en-US" dirty="0"/>
            </a:br>
            <a:endParaRPr lang="en-US" dirty="0"/>
          </a:p>
        </p:txBody>
      </p:sp>
    </p:spTree>
    <p:extLst>
      <p:ext uri="{BB962C8B-B14F-4D97-AF65-F5344CB8AC3E}">
        <p14:creationId xmlns:p14="http://schemas.microsoft.com/office/powerpoint/2010/main" val="2644125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0A5C9C3-CF43-05D7-D4D2-EE2981671025}"/>
                  </a:ext>
                </a:extLst>
              </p:cNvPr>
              <p:cNvSpPr>
                <a:spLocks noGrp="1"/>
              </p:cNvSpPr>
              <p:nvPr>
                <p:ph type="title"/>
              </p:nvPr>
            </p:nvSpPr>
            <p:spPr>
              <a:xfrm>
                <a:off x="869688" y="1034726"/>
                <a:ext cx="5157486" cy="5326121"/>
              </a:xfrm>
            </p:spPr>
            <p:txBody>
              <a:bodyPr>
                <a:normAutofit fontScale="90000"/>
              </a:bodyPr>
              <a:lstStyle/>
              <a:p>
                <a:r>
                  <a:rPr lang="en-US" sz="2200" b="1" dirty="0">
                    <a:latin typeface="Berlin Sans FB Demi" panose="020E0802020502020306" pitchFamily="34" charset="0"/>
                  </a:rPr>
                  <a:t>1. To analyze whether gender plays a role in the number of cancers cases in India.</a:t>
                </a:r>
                <a:br>
                  <a:rPr lang="en-US" sz="3100" b="1" dirty="0"/>
                </a:br>
                <a:br>
                  <a:rPr lang="en-US" sz="3100" dirty="0"/>
                </a:br>
                <a:r>
                  <a:rPr lang="en-US" sz="2000" b="1" dirty="0"/>
                  <a:t>H</a:t>
                </a:r>
                <a:r>
                  <a:rPr lang="en-US" sz="2000" b="1" baseline="-25000" dirty="0"/>
                  <a:t>0</a:t>
                </a:r>
                <a:r>
                  <a:rPr lang="en-US" sz="2000" b="1" dirty="0"/>
                  <a:t> (Null Hypothesis)</a:t>
                </a:r>
                <a:br>
                  <a:rPr lang="en-US" sz="2000" dirty="0"/>
                </a:br>
                <a:r>
                  <a:rPr lang="en-US" sz="2000" dirty="0"/>
                  <a:t>There is no difference between the cancer cases of males and females</a:t>
                </a:r>
                <a:br>
                  <a:rPr lang="en-US" sz="2000" dirty="0"/>
                </a:br>
                <a:br>
                  <a:rPr lang="en-US" sz="2000" dirty="0"/>
                </a:br>
                <a:r>
                  <a:rPr lang="en-US" sz="2000" b="1" dirty="0"/>
                  <a:t>H</a:t>
                </a:r>
                <a:r>
                  <a:rPr lang="en-US" sz="2000" b="1" baseline="-25000" dirty="0"/>
                  <a:t>1</a:t>
                </a:r>
                <a:r>
                  <a:rPr lang="en-US" sz="2000" b="1" dirty="0"/>
                  <a:t> (Alternative Hypothesis)</a:t>
                </a:r>
                <a:br>
                  <a:rPr lang="en-US" sz="2000" dirty="0"/>
                </a:br>
                <a:r>
                  <a:rPr lang="en-US" sz="2000" dirty="0"/>
                  <a:t>There is a difference between the cancer cases of males and females</a:t>
                </a:r>
                <a:br>
                  <a:rPr lang="en-US" sz="2000" dirty="0"/>
                </a:br>
                <a:br>
                  <a:rPr lang="en-US" sz="2000" dirty="0"/>
                </a:br>
                <a:r>
                  <a:rPr lang="en-US" altLang="en-US" sz="2000" dirty="0">
                    <a:latin typeface="Calibri" panose="020F0502020204030204" pitchFamily="34" charset="0"/>
                    <a:ea typeface="Calibri" panose="020F0502020204030204" pitchFamily="34" charset="0"/>
                    <a:cs typeface="Times New Roman" panose="02020603050405020304" pitchFamily="18" charset="0"/>
                  </a:rPr>
                  <a:t>The chi-square test statistics at </a:t>
                </a:r>
                <a:r>
                  <a:rPr lang="en-US" altLang="en-US" sz="2000" b="1" dirty="0">
                    <a:latin typeface="Calibri" panose="020F0502020204030204" pitchFamily="34" charset="0"/>
                    <a:ea typeface="Calibri" panose="020F0502020204030204" pitchFamily="34" charset="0"/>
                    <a:cs typeface="Times New Roman" panose="02020603050405020304" pitchFamily="18" charset="0"/>
                  </a:rPr>
                  <a:t>α=0.05</a:t>
                </a:r>
                <a:r>
                  <a:rPr lang="en-US" altLang="en-US" sz="2000" dirty="0">
                    <a:latin typeface="Calibri" panose="020F0502020204030204" pitchFamily="34" charset="0"/>
                    <a:ea typeface="Calibri" panose="020F0502020204030204" pitchFamily="34" charset="0"/>
                    <a:cs typeface="Times New Roman" panose="02020603050405020304" pitchFamily="18" charset="0"/>
                  </a:rPr>
                  <a:t> and </a:t>
                </a:r>
                <a:r>
                  <a:rPr lang="en-US" altLang="en-US" sz="2000" b="1" dirty="0">
                    <a:latin typeface="Calibri" panose="020F0502020204030204" pitchFamily="34" charset="0"/>
                    <a:ea typeface="Calibri" panose="020F0502020204030204" pitchFamily="34" charset="0"/>
                    <a:cs typeface="Times New Roman" panose="02020603050405020304" pitchFamily="18" charset="0"/>
                  </a:rPr>
                  <a:t>degree of freedom= 5</a:t>
                </a:r>
                <a:r>
                  <a:rPr lang="en-US" altLang="en-US" sz="2000" dirty="0">
                    <a:latin typeface="Calibri" panose="020F0502020204030204" pitchFamily="34" charset="0"/>
                    <a:ea typeface="Calibri" panose="020F0502020204030204" pitchFamily="34" charset="0"/>
                    <a:cs typeface="Times New Roman" panose="02020603050405020304" pitchFamily="18" charset="0"/>
                  </a:rPr>
                  <a:t> is given by:</a:t>
                </a:r>
                <a:br>
                  <a:rPr lang="en-US" altLang="en-US" sz="2000" dirty="0">
                    <a:latin typeface="Calibri" panose="020F0502020204030204" pitchFamily="34" charset="0"/>
                    <a:ea typeface="Calibri" panose="020F0502020204030204" pitchFamily="34" charset="0"/>
                    <a:cs typeface="Times New Roman" panose="02020603050405020304" pitchFamily="18" charset="0"/>
                  </a:rPr>
                </a:br>
                <a:r>
                  <a:rPr lang="en-US" altLang="en-US" sz="2000" dirty="0">
                    <a:latin typeface="Calibri" panose="020F0502020204030204" pitchFamily="34" charset="0"/>
                    <a:ea typeface="Calibri" panose="020F0502020204030204" pitchFamily="34" charset="0"/>
                    <a:cs typeface="Times New Roman" panose="02020603050405020304" pitchFamily="18" charset="0"/>
                  </a:rPr>
                  <a:t>	</a:t>
                </a:r>
                <a:br>
                  <a:rPr lang="en-US" altLang="en-US" sz="1000" dirty="0"/>
                </a:br>
                <a:r>
                  <a:rPr lang="en-US" sz="2200" b="1" dirty="0"/>
                  <a:t>ꭓ</a:t>
                </a:r>
                <a:r>
                  <a:rPr lang="en-US" sz="2200" b="1" baseline="30000" dirty="0"/>
                  <a:t>2</a:t>
                </a:r>
                <a:r>
                  <a:rPr lang="en-US" sz="2200" b="1" dirty="0"/>
                  <a:t> = ∑</a:t>
                </a:r>
                <a14:m>
                  <m:oMath xmlns:m="http://schemas.openxmlformats.org/officeDocument/2006/math">
                    <m:f>
                      <m:fPr>
                        <m:ctrlPr>
                          <a:rPr lang="en-US" sz="2200" b="1" i="1">
                            <a:latin typeface="Cambria Math" panose="02040503050406030204" pitchFamily="18" charset="0"/>
                          </a:rPr>
                        </m:ctrlPr>
                      </m:fPr>
                      <m:num>
                        <m:d>
                          <m:dPr>
                            <m:ctrlPr>
                              <a:rPr lang="en-US" sz="2200" b="1" i="1">
                                <a:latin typeface="Cambria Math" panose="02040503050406030204" pitchFamily="18" charset="0"/>
                              </a:rPr>
                            </m:ctrlPr>
                          </m:dPr>
                          <m:e>
                            <m:r>
                              <a:rPr lang="en-US" sz="2200" b="1" i="1">
                                <a:latin typeface="Cambria Math" panose="02040503050406030204" pitchFamily="18" charset="0"/>
                              </a:rPr>
                              <m:t>𝑶𝒃𝒔𝒆𝒓𝒗𝒆𝒅</m:t>
                            </m:r>
                            <m:r>
                              <a:rPr lang="en-US" sz="2200" b="1" i="1">
                                <a:latin typeface="Cambria Math" panose="02040503050406030204" pitchFamily="18" charset="0"/>
                              </a:rPr>
                              <m:t> </m:t>
                            </m:r>
                            <m:r>
                              <a:rPr lang="en-US" sz="2200" b="1" i="1">
                                <a:latin typeface="Cambria Math" panose="02040503050406030204" pitchFamily="18" charset="0"/>
                              </a:rPr>
                              <m:t>𝑭𝒓𝒆𝒒𝒖𝒆𝒏𝒄𝒚</m:t>
                            </m:r>
                            <m:r>
                              <a:rPr lang="en-US" sz="2200" b="1" i="1">
                                <a:latin typeface="Cambria Math" panose="02040503050406030204" pitchFamily="18" charset="0"/>
                              </a:rPr>
                              <m:t>−</m:t>
                            </m:r>
                            <m:r>
                              <a:rPr lang="en-US" sz="2200" b="1" i="1">
                                <a:latin typeface="Cambria Math" panose="02040503050406030204" pitchFamily="18" charset="0"/>
                              </a:rPr>
                              <m:t>𝑬𝒙𝒑𝒆𝒄𝒕𝒆𝒅</m:t>
                            </m:r>
                            <m:r>
                              <a:rPr lang="en-US" sz="2200" b="1" i="1">
                                <a:latin typeface="Cambria Math" panose="02040503050406030204" pitchFamily="18" charset="0"/>
                              </a:rPr>
                              <m:t> </m:t>
                            </m:r>
                            <m:r>
                              <a:rPr lang="en-US" sz="2200" b="1" i="1">
                                <a:latin typeface="Cambria Math" panose="02040503050406030204" pitchFamily="18" charset="0"/>
                              </a:rPr>
                              <m:t>𝑭𝒓𝒆𝒒𝒖𝒆𝒏𝒄𝒚</m:t>
                            </m:r>
                          </m:e>
                        </m:d>
                        <m:r>
                          <a:rPr lang="en-US" sz="2200" b="1" i="1">
                            <a:latin typeface="Cambria Math" panose="02040503050406030204" pitchFamily="18" charset="0"/>
                          </a:rPr>
                          <m:t>^</m:t>
                        </m:r>
                        <m:r>
                          <a:rPr lang="en-US" sz="2200" b="1" i="1">
                            <a:latin typeface="Cambria Math" panose="02040503050406030204" pitchFamily="18" charset="0"/>
                          </a:rPr>
                          <m:t>𝟐</m:t>
                        </m:r>
                      </m:num>
                      <m:den>
                        <m:r>
                          <a:rPr lang="en-US" sz="2200" b="1" i="1">
                            <a:latin typeface="Cambria Math" panose="02040503050406030204" pitchFamily="18" charset="0"/>
                          </a:rPr>
                          <m:t>𝑬𝒙𝒑𝒆𝒄𝒕𝒆𝒅</m:t>
                        </m:r>
                        <m:r>
                          <a:rPr lang="en-US" sz="2200" b="1" i="1">
                            <a:latin typeface="Cambria Math" panose="02040503050406030204" pitchFamily="18" charset="0"/>
                          </a:rPr>
                          <m:t> </m:t>
                        </m:r>
                        <m:r>
                          <a:rPr lang="en-US" sz="2200" b="1" i="1">
                            <a:latin typeface="Cambria Math" panose="02040503050406030204" pitchFamily="18" charset="0"/>
                          </a:rPr>
                          <m:t>𝑭𝒓𝒆𝒒𝒖𝒆𝒏𝒄𝒚</m:t>
                        </m:r>
                      </m:den>
                    </m:f>
                  </m:oMath>
                </a14:m>
                <a:br>
                  <a:rPr lang="en-US" dirty="0"/>
                </a:br>
                <a:r>
                  <a:rPr lang="en-US" dirty="0"/>
                  <a:t> </a:t>
                </a:r>
                <a:br>
                  <a:rPr lang="en-US" dirty="0"/>
                </a:br>
                <a:br>
                  <a:rPr lang="en-US" sz="2000" dirty="0"/>
                </a:br>
                <a:endParaRPr lang="en-US" sz="2000" dirty="0"/>
              </a:p>
            </p:txBody>
          </p:sp>
        </mc:Choice>
        <mc:Fallback xmlns="">
          <p:sp>
            <p:nvSpPr>
              <p:cNvPr id="2" name="Title 1">
                <a:extLst>
                  <a:ext uri="{FF2B5EF4-FFF2-40B4-BE49-F238E27FC236}">
                    <a16:creationId xmlns:a16="http://schemas.microsoft.com/office/drawing/2014/main" id="{60A5C9C3-CF43-05D7-D4D2-EE2981671025}"/>
                  </a:ext>
                </a:extLst>
              </p:cNvPr>
              <p:cNvSpPr>
                <a:spLocks noGrp="1" noRot="1" noChangeAspect="1" noMove="1" noResize="1" noEditPoints="1" noAdjustHandles="1" noChangeArrowheads="1" noChangeShapeType="1" noTextEdit="1"/>
              </p:cNvSpPr>
              <p:nvPr>
                <p:ph type="title"/>
              </p:nvPr>
            </p:nvSpPr>
            <p:spPr>
              <a:xfrm>
                <a:off x="869688" y="1034726"/>
                <a:ext cx="5157486" cy="5326121"/>
              </a:xfrm>
              <a:blipFill>
                <a:blip r:embed="rId2"/>
                <a:stretch>
                  <a:fillRect l="-1300" t="-229" r="-1418"/>
                </a:stretch>
              </a:blipFill>
            </p:spPr>
            <p:txBody>
              <a:bodyPr/>
              <a:lstStyle/>
              <a:p>
                <a:r>
                  <a:rPr lang="en-US">
                    <a:noFill/>
                  </a:rPr>
                  <a:t> </a:t>
                </a:r>
              </a:p>
            </p:txBody>
          </p:sp>
        </mc:Fallback>
      </mc:AlternateContent>
      <p:graphicFrame>
        <p:nvGraphicFramePr>
          <p:cNvPr id="4" name="Content Placeholder 3">
            <a:extLst>
              <a:ext uri="{FF2B5EF4-FFF2-40B4-BE49-F238E27FC236}">
                <a16:creationId xmlns:a16="http://schemas.microsoft.com/office/drawing/2014/main" id="{09386792-15E4-7246-7AD7-04ADF4CD8960}"/>
              </a:ext>
            </a:extLst>
          </p:cNvPr>
          <p:cNvGraphicFramePr>
            <a:graphicFrameLocks noGrp="1"/>
          </p:cNvGraphicFramePr>
          <p:nvPr>
            <p:ph idx="1"/>
            <p:extLst>
              <p:ext uri="{D42A27DB-BD31-4B8C-83A1-F6EECF244321}">
                <p14:modId xmlns:p14="http://schemas.microsoft.com/office/powerpoint/2010/main" val="2405101991"/>
              </p:ext>
            </p:extLst>
          </p:nvPr>
        </p:nvGraphicFramePr>
        <p:xfrm>
          <a:off x="6670875" y="286147"/>
          <a:ext cx="5045074" cy="2605665"/>
        </p:xfrm>
        <a:graphic>
          <a:graphicData uri="http://schemas.openxmlformats.org/drawingml/2006/table">
            <a:tbl>
              <a:tblPr firstRow="1" firstCol="1" bandRow="1">
                <a:tableStyleId>{5C22544A-7EE6-4342-B048-85BDC9FD1C3A}</a:tableStyleId>
              </a:tblPr>
              <a:tblGrid>
                <a:gridCol w="1605333">
                  <a:extLst>
                    <a:ext uri="{9D8B030D-6E8A-4147-A177-3AD203B41FA5}">
                      <a16:colId xmlns:a16="http://schemas.microsoft.com/office/drawing/2014/main" val="4047195255"/>
                    </a:ext>
                  </a:extLst>
                </a:gridCol>
                <a:gridCol w="1126084">
                  <a:extLst>
                    <a:ext uri="{9D8B030D-6E8A-4147-A177-3AD203B41FA5}">
                      <a16:colId xmlns:a16="http://schemas.microsoft.com/office/drawing/2014/main" val="4286208161"/>
                    </a:ext>
                  </a:extLst>
                </a:gridCol>
                <a:gridCol w="1352145">
                  <a:extLst>
                    <a:ext uri="{9D8B030D-6E8A-4147-A177-3AD203B41FA5}">
                      <a16:colId xmlns:a16="http://schemas.microsoft.com/office/drawing/2014/main" val="2605422276"/>
                    </a:ext>
                  </a:extLst>
                </a:gridCol>
                <a:gridCol w="961512">
                  <a:extLst>
                    <a:ext uri="{9D8B030D-6E8A-4147-A177-3AD203B41FA5}">
                      <a16:colId xmlns:a16="http://schemas.microsoft.com/office/drawing/2014/main" val="3047394462"/>
                    </a:ext>
                  </a:extLst>
                </a:gridCol>
              </a:tblGrid>
              <a:tr h="252382">
                <a:tc gridSpan="4">
                  <a:txBody>
                    <a:bodyPr/>
                    <a:lstStyle/>
                    <a:p>
                      <a:pPr marL="0" marR="0" algn="ctr">
                        <a:lnSpc>
                          <a:spcPct val="150000"/>
                        </a:lnSpc>
                        <a:spcAft>
                          <a:spcPts val="800"/>
                        </a:spcAft>
                        <a:buNone/>
                      </a:pPr>
                      <a:r>
                        <a:rPr lang="en-US" sz="1700" kern="0">
                          <a:effectLst/>
                        </a:rPr>
                        <a:t>Observed Frequency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93430347"/>
                  </a:ext>
                </a:extLst>
              </a:tr>
              <a:tr h="350244">
                <a:tc>
                  <a:txBody>
                    <a:bodyPr/>
                    <a:lstStyle/>
                    <a:p>
                      <a:pPr marL="0" marR="0" algn="ctr">
                        <a:lnSpc>
                          <a:spcPct val="150000"/>
                        </a:lnSpc>
                        <a:spcAft>
                          <a:spcPts val="800"/>
                        </a:spcAft>
                        <a:buNone/>
                      </a:pPr>
                      <a:r>
                        <a:rPr lang="en-US" sz="1700" kern="0">
                          <a:effectLst/>
                        </a:rPr>
                        <a:t>Zones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700" kern="0">
                          <a:effectLst/>
                        </a:rPr>
                        <a:t>Males (X)</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700" kern="0">
                          <a:effectLst/>
                        </a:rPr>
                        <a:t>Females (Y)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700" kern="0">
                          <a:effectLst/>
                        </a:rPr>
                        <a:t>Total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2823323961"/>
                  </a:ext>
                </a:extLst>
              </a:tr>
              <a:tr h="272419">
                <a:tc>
                  <a:txBody>
                    <a:bodyPr/>
                    <a:lstStyle/>
                    <a:p>
                      <a:pPr marL="0" marR="0" algn="ctr">
                        <a:lnSpc>
                          <a:spcPct val="150000"/>
                        </a:lnSpc>
                        <a:spcAft>
                          <a:spcPts val="800"/>
                        </a:spcAft>
                        <a:buNone/>
                      </a:pPr>
                      <a:r>
                        <a:rPr lang="en-US" sz="1300" kern="0">
                          <a:effectLst/>
                        </a:rPr>
                        <a:t>Central Zone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4280917</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3969935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8250852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333825985"/>
                  </a:ext>
                </a:extLst>
              </a:tr>
              <a:tr h="272419">
                <a:tc>
                  <a:txBody>
                    <a:bodyPr/>
                    <a:lstStyle/>
                    <a:p>
                      <a:pPr marL="0" marR="0" algn="ctr">
                        <a:lnSpc>
                          <a:spcPct val="150000"/>
                        </a:lnSpc>
                        <a:spcAft>
                          <a:spcPts val="800"/>
                        </a:spcAft>
                        <a:buNone/>
                      </a:pPr>
                      <a:r>
                        <a:rPr lang="en-US" sz="1300" kern="0">
                          <a:effectLst/>
                        </a:rPr>
                        <a:t>East Zone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9270946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8637373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17908319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2801950691"/>
                  </a:ext>
                </a:extLst>
              </a:tr>
              <a:tr h="272419">
                <a:tc>
                  <a:txBody>
                    <a:bodyPr/>
                    <a:lstStyle/>
                    <a:p>
                      <a:pPr marL="0" marR="0" algn="ctr">
                        <a:lnSpc>
                          <a:spcPct val="150000"/>
                        </a:lnSpc>
                        <a:spcAft>
                          <a:spcPts val="800"/>
                        </a:spcAft>
                        <a:buNone/>
                      </a:pPr>
                      <a:r>
                        <a:rPr lang="en-US" sz="1300" kern="0">
                          <a:effectLst/>
                        </a:rPr>
                        <a:t>North East Zone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27541445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26998878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54540323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2104872501"/>
                  </a:ext>
                </a:extLst>
              </a:tr>
              <a:tr h="272419">
                <a:tc>
                  <a:txBody>
                    <a:bodyPr/>
                    <a:lstStyle/>
                    <a:p>
                      <a:pPr marL="0" marR="0" algn="ctr">
                        <a:lnSpc>
                          <a:spcPct val="150000"/>
                        </a:lnSpc>
                        <a:spcAft>
                          <a:spcPts val="800"/>
                        </a:spcAft>
                        <a:buNone/>
                      </a:pPr>
                      <a:r>
                        <a:rPr lang="en-US" sz="1300" kern="0">
                          <a:effectLst/>
                        </a:rPr>
                        <a:t>North Zone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32929570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29958509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62888079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2314810407"/>
                  </a:ext>
                </a:extLst>
              </a:tr>
              <a:tr h="272419">
                <a:tc>
                  <a:txBody>
                    <a:bodyPr/>
                    <a:lstStyle/>
                    <a:p>
                      <a:pPr marL="0" marR="0" algn="ctr">
                        <a:lnSpc>
                          <a:spcPct val="150000"/>
                        </a:lnSpc>
                        <a:spcAft>
                          <a:spcPts val="800"/>
                        </a:spcAft>
                        <a:buNone/>
                      </a:pPr>
                      <a:r>
                        <a:rPr lang="en-US" sz="1300" kern="0">
                          <a:effectLst/>
                        </a:rPr>
                        <a:t>South Zone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31641265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30410379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62051644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3204100485"/>
                  </a:ext>
                </a:extLst>
              </a:tr>
              <a:tr h="272419">
                <a:tc>
                  <a:txBody>
                    <a:bodyPr/>
                    <a:lstStyle/>
                    <a:p>
                      <a:pPr marL="0" marR="0" algn="ctr">
                        <a:lnSpc>
                          <a:spcPct val="150000"/>
                        </a:lnSpc>
                        <a:spcAft>
                          <a:spcPts val="800"/>
                        </a:spcAft>
                        <a:buNone/>
                      </a:pPr>
                      <a:r>
                        <a:rPr lang="en-US" sz="1300" kern="0">
                          <a:effectLst/>
                        </a:rPr>
                        <a:t>West Zone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46436043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42941495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89377538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3987992966"/>
                  </a:ext>
                </a:extLst>
              </a:tr>
              <a:tr h="272419">
                <a:tc>
                  <a:txBody>
                    <a:bodyPr/>
                    <a:lstStyle/>
                    <a:p>
                      <a:pPr marL="0" marR="0" algn="ctr">
                        <a:lnSpc>
                          <a:spcPct val="150000"/>
                        </a:lnSpc>
                        <a:spcAft>
                          <a:spcPts val="800"/>
                        </a:spcAft>
                        <a:buNone/>
                      </a:pPr>
                      <a:r>
                        <a:rPr lang="en-US" sz="1300" kern="0">
                          <a:effectLst/>
                        </a:rPr>
                        <a:t>Total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a:effectLst/>
                        </a:rPr>
                        <a:t>152100186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dirty="0">
                          <a:effectLst/>
                        </a:rPr>
                        <a:t>142916569</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tc>
                  <a:txBody>
                    <a:bodyPr/>
                    <a:lstStyle/>
                    <a:p>
                      <a:pPr marL="0" marR="0" algn="ctr">
                        <a:lnSpc>
                          <a:spcPct val="150000"/>
                        </a:lnSpc>
                        <a:spcAft>
                          <a:spcPts val="800"/>
                        </a:spcAft>
                        <a:buNone/>
                      </a:pPr>
                      <a:r>
                        <a:rPr lang="en-US" sz="1300" kern="0" dirty="0">
                          <a:effectLst/>
                        </a:rPr>
                        <a:t>295016755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106" marR="65106" marT="0" marB="0" anchor="b"/>
                </a:tc>
                <a:extLst>
                  <a:ext uri="{0D108BD9-81ED-4DB2-BD59-A6C34878D82A}">
                    <a16:rowId xmlns:a16="http://schemas.microsoft.com/office/drawing/2014/main" val="1329607852"/>
                  </a:ext>
                </a:extLst>
              </a:tr>
            </a:tbl>
          </a:graphicData>
        </a:graphic>
      </p:graphicFrame>
      <p:graphicFrame>
        <p:nvGraphicFramePr>
          <p:cNvPr id="5" name="Table 4">
            <a:extLst>
              <a:ext uri="{FF2B5EF4-FFF2-40B4-BE49-F238E27FC236}">
                <a16:creationId xmlns:a16="http://schemas.microsoft.com/office/drawing/2014/main" id="{C3D77CEF-3BFB-55BB-AF62-0D0127AD9C1D}"/>
              </a:ext>
            </a:extLst>
          </p:cNvPr>
          <p:cNvGraphicFramePr>
            <a:graphicFrameLocks noGrp="1"/>
          </p:cNvGraphicFramePr>
          <p:nvPr>
            <p:extLst>
              <p:ext uri="{D42A27DB-BD31-4B8C-83A1-F6EECF244321}">
                <p14:modId xmlns:p14="http://schemas.microsoft.com/office/powerpoint/2010/main" val="2421322388"/>
              </p:ext>
            </p:extLst>
          </p:nvPr>
        </p:nvGraphicFramePr>
        <p:xfrm>
          <a:off x="6670876" y="3429000"/>
          <a:ext cx="5045074" cy="2799819"/>
        </p:xfrm>
        <a:graphic>
          <a:graphicData uri="http://schemas.openxmlformats.org/drawingml/2006/table">
            <a:tbl>
              <a:tblPr firstRow="1" firstCol="1" bandRow="1">
                <a:tableStyleId>{5C22544A-7EE6-4342-B048-85BDC9FD1C3A}</a:tableStyleId>
              </a:tblPr>
              <a:tblGrid>
                <a:gridCol w="1546071">
                  <a:extLst>
                    <a:ext uri="{9D8B030D-6E8A-4147-A177-3AD203B41FA5}">
                      <a16:colId xmlns:a16="http://schemas.microsoft.com/office/drawing/2014/main" val="3488782288"/>
                    </a:ext>
                  </a:extLst>
                </a:gridCol>
                <a:gridCol w="1262502">
                  <a:extLst>
                    <a:ext uri="{9D8B030D-6E8A-4147-A177-3AD203B41FA5}">
                      <a16:colId xmlns:a16="http://schemas.microsoft.com/office/drawing/2014/main" val="3702888810"/>
                    </a:ext>
                  </a:extLst>
                </a:gridCol>
                <a:gridCol w="1315516">
                  <a:extLst>
                    <a:ext uri="{9D8B030D-6E8A-4147-A177-3AD203B41FA5}">
                      <a16:colId xmlns:a16="http://schemas.microsoft.com/office/drawing/2014/main" val="2823957200"/>
                    </a:ext>
                  </a:extLst>
                </a:gridCol>
                <a:gridCol w="920985">
                  <a:extLst>
                    <a:ext uri="{9D8B030D-6E8A-4147-A177-3AD203B41FA5}">
                      <a16:colId xmlns:a16="http://schemas.microsoft.com/office/drawing/2014/main" val="1415008928"/>
                    </a:ext>
                  </a:extLst>
                </a:gridCol>
              </a:tblGrid>
              <a:tr h="306180">
                <a:tc gridSpan="4">
                  <a:txBody>
                    <a:bodyPr/>
                    <a:lstStyle/>
                    <a:p>
                      <a:pPr marL="0" marR="0" algn="ctr">
                        <a:lnSpc>
                          <a:spcPct val="150000"/>
                        </a:lnSpc>
                        <a:spcAft>
                          <a:spcPts val="800"/>
                        </a:spcAft>
                        <a:buNone/>
                      </a:pPr>
                      <a:r>
                        <a:rPr lang="en-US" sz="1800" kern="0">
                          <a:effectLst/>
                        </a:rPr>
                        <a:t>Expected Frequency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96834074"/>
                  </a:ext>
                </a:extLst>
              </a:tr>
              <a:tr h="306180">
                <a:tc>
                  <a:txBody>
                    <a:bodyPr/>
                    <a:lstStyle/>
                    <a:p>
                      <a:pPr marL="0" marR="0" algn="ctr">
                        <a:lnSpc>
                          <a:spcPct val="150000"/>
                        </a:lnSpc>
                        <a:spcAft>
                          <a:spcPts val="800"/>
                        </a:spcAft>
                        <a:buNone/>
                      </a:pPr>
                      <a:r>
                        <a:rPr lang="en-US" sz="1800" kern="0">
                          <a:effectLst/>
                        </a:rPr>
                        <a:t>Zones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800" kern="0">
                          <a:effectLst/>
                        </a:rPr>
                        <a:t>Males (X)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800" kern="0">
                          <a:effectLst/>
                        </a:rPr>
                        <a:t>Females (Y)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800" kern="0">
                          <a:effectLst/>
                        </a:rPr>
                        <a:t>Total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90720502"/>
                  </a:ext>
                </a:extLst>
              </a:tr>
              <a:tr h="238147">
                <a:tc>
                  <a:txBody>
                    <a:bodyPr/>
                    <a:lstStyle/>
                    <a:p>
                      <a:pPr marL="0" marR="0" algn="ctr">
                        <a:lnSpc>
                          <a:spcPct val="150000"/>
                        </a:lnSpc>
                        <a:spcAft>
                          <a:spcPts val="800"/>
                        </a:spcAft>
                        <a:buNone/>
                      </a:pPr>
                      <a:r>
                        <a:rPr lang="en-US" sz="1400" kern="0">
                          <a:effectLst/>
                        </a:rPr>
                        <a:t>Central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4253846.951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3997005.05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8250852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47084997"/>
                  </a:ext>
                </a:extLst>
              </a:tr>
              <a:tr h="238147">
                <a:tc>
                  <a:txBody>
                    <a:bodyPr/>
                    <a:lstStyle/>
                    <a:p>
                      <a:pPr marL="0" marR="0" algn="ctr">
                        <a:lnSpc>
                          <a:spcPct val="150000"/>
                        </a:lnSpc>
                        <a:spcAft>
                          <a:spcPts val="800"/>
                        </a:spcAft>
                        <a:buNone/>
                      </a:pPr>
                      <a:r>
                        <a:rPr lang="en-US" sz="1400" kern="0">
                          <a:effectLst/>
                        </a:rPr>
                        <a:t>East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9232894.758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8675424.24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17908319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70653480"/>
                  </a:ext>
                </a:extLst>
              </a:tr>
              <a:tr h="238147">
                <a:tc>
                  <a:txBody>
                    <a:bodyPr/>
                    <a:lstStyle/>
                    <a:p>
                      <a:pPr marL="0" marR="0" algn="ctr">
                        <a:lnSpc>
                          <a:spcPct val="150000"/>
                        </a:lnSpc>
                        <a:spcAft>
                          <a:spcPts val="800"/>
                        </a:spcAft>
                        <a:buNone/>
                      </a:pPr>
                      <a:r>
                        <a:rPr lang="en-US" sz="1400" kern="0">
                          <a:effectLst/>
                        </a:rPr>
                        <a:t>North East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28119058.09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26421264.9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54540323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85614017"/>
                  </a:ext>
                </a:extLst>
              </a:tr>
              <a:tr h="238147">
                <a:tc>
                  <a:txBody>
                    <a:bodyPr/>
                    <a:lstStyle/>
                    <a:p>
                      <a:pPr marL="0" marR="0" algn="ctr">
                        <a:lnSpc>
                          <a:spcPct val="150000"/>
                        </a:lnSpc>
                        <a:spcAft>
                          <a:spcPts val="800"/>
                        </a:spcAft>
                        <a:buNone/>
                      </a:pPr>
                      <a:r>
                        <a:rPr lang="en-US" sz="1400" kern="0">
                          <a:effectLst/>
                        </a:rPr>
                        <a:t>North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32422865.32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30465213.7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62888079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18712072"/>
                  </a:ext>
                </a:extLst>
              </a:tr>
              <a:tr h="238147">
                <a:tc>
                  <a:txBody>
                    <a:bodyPr/>
                    <a:lstStyle/>
                    <a:p>
                      <a:pPr marL="0" marR="0" algn="ctr">
                        <a:lnSpc>
                          <a:spcPct val="150000"/>
                        </a:lnSpc>
                        <a:spcAft>
                          <a:spcPts val="800"/>
                        </a:spcAft>
                        <a:buNone/>
                      </a:pPr>
                      <a:r>
                        <a:rPr lang="en-US" sz="1400" kern="0">
                          <a:effectLst/>
                        </a:rPr>
                        <a:t>South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31991629.07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30060014.9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62051644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291629399"/>
                  </a:ext>
                </a:extLst>
              </a:tr>
              <a:tr h="340207">
                <a:tc>
                  <a:txBody>
                    <a:bodyPr/>
                    <a:lstStyle/>
                    <a:p>
                      <a:pPr marL="0" marR="0" algn="ctr">
                        <a:lnSpc>
                          <a:spcPct val="150000"/>
                        </a:lnSpc>
                        <a:spcAft>
                          <a:spcPts val="800"/>
                        </a:spcAft>
                        <a:buNone/>
                      </a:pPr>
                      <a:r>
                        <a:rPr lang="en-US" sz="1400" kern="0">
                          <a:effectLst/>
                        </a:rPr>
                        <a:t>West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46079891.82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43297646.2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89377538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150861403"/>
                  </a:ext>
                </a:extLst>
              </a:tr>
              <a:tr h="0">
                <a:tc>
                  <a:txBody>
                    <a:bodyPr/>
                    <a:lstStyle/>
                    <a:p>
                      <a:pPr marL="0" marR="0" algn="ctr">
                        <a:lnSpc>
                          <a:spcPct val="150000"/>
                        </a:lnSpc>
                        <a:spcAft>
                          <a:spcPts val="800"/>
                        </a:spcAft>
                        <a:buNone/>
                      </a:pPr>
                      <a:r>
                        <a:rPr lang="en-US" sz="1400" kern="0">
                          <a:effectLst/>
                        </a:rPr>
                        <a:t>Total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152100186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400" kern="0">
                          <a:effectLst/>
                        </a:rPr>
                        <a:t>142916569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200" kern="0" dirty="0">
                          <a:effectLst/>
                        </a:rPr>
                        <a:t>295016755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169364059"/>
                  </a:ext>
                </a:extLst>
              </a:tr>
            </a:tbl>
          </a:graphicData>
        </a:graphic>
      </p:graphicFrame>
      <p:sp>
        <p:nvSpPr>
          <p:cNvPr id="7" name="Text Box 4">
            <a:extLst>
              <a:ext uri="{FF2B5EF4-FFF2-40B4-BE49-F238E27FC236}">
                <a16:creationId xmlns:a16="http://schemas.microsoft.com/office/drawing/2014/main" id="{87B7BDD0-5FE0-0DCD-035C-CDD0EB1FAE6D}"/>
              </a:ext>
            </a:extLst>
          </p:cNvPr>
          <p:cNvSpPr txBox="1"/>
          <p:nvPr/>
        </p:nvSpPr>
        <p:spPr>
          <a:xfrm>
            <a:off x="6670873" y="2864690"/>
            <a:ext cx="5045075" cy="3002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Table 2.2: Observed Frequency of number of cancer cases among males and females in every zone</a:t>
            </a:r>
          </a:p>
        </p:txBody>
      </p:sp>
      <p:sp>
        <p:nvSpPr>
          <p:cNvPr id="8" name="Text Box 4">
            <a:extLst>
              <a:ext uri="{FF2B5EF4-FFF2-40B4-BE49-F238E27FC236}">
                <a16:creationId xmlns:a16="http://schemas.microsoft.com/office/drawing/2014/main" id="{8200B2A4-C4D3-044D-CEB1-869F027B6234}"/>
              </a:ext>
            </a:extLst>
          </p:cNvPr>
          <p:cNvSpPr txBox="1"/>
          <p:nvPr/>
        </p:nvSpPr>
        <p:spPr>
          <a:xfrm>
            <a:off x="6670874" y="6228819"/>
            <a:ext cx="5045075" cy="26405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Table 2.3: Expected Frequency of number of cancer cases among males and females in every zone</a:t>
            </a:r>
          </a:p>
        </p:txBody>
      </p:sp>
    </p:spTree>
    <p:extLst>
      <p:ext uri="{BB962C8B-B14F-4D97-AF65-F5344CB8AC3E}">
        <p14:creationId xmlns:p14="http://schemas.microsoft.com/office/powerpoint/2010/main" val="13569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BC99F-D1D9-14F1-DB07-B48B0232AE60}"/>
              </a:ext>
            </a:extLst>
          </p:cNvPr>
          <p:cNvSpPr>
            <a:spLocks noGrp="1"/>
          </p:cNvSpPr>
          <p:nvPr>
            <p:ph type="title"/>
          </p:nvPr>
        </p:nvSpPr>
        <p:spPr>
          <a:xfrm>
            <a:off x="7191426" y="830825"/>
            <a:ext cx="3932237" cy="4154129"/>
          </a:xfrm>
        </p:spPr>
        <p:txBody>
          <a:bodyPr>
            <a:normAutofit fontScale="90000"/>
          </a:bodyPr>
          <a:lstStyle/>
          <a:p>
            <a:pPr lvl="0" eaLnBrk="0" fontAlgn="base" hangingPunct="0">
              <a:lnSpc>
                <a:spcPct val="100000"/>
              </a:lnSpc>
              <a:spcAft>
                <a:spcPct val="0"/>
              </a:spcAft>
              <a:tabLst>
                <a:tab pos="2971800" algn="ctr"/>
              </a:tabLst>
            </a:pPr>
            <a:br>
              <a:rPr lang="en-US" altLang="en-US" sz="1600" dirty="0">
                <a:latin typeface="Calibri" panose="020F0502020204030204" pitchFamily="34" charset="0"/>
                <a:ea typeface="Calibri" panose="020F0502020204030204" pitchFamily="34" charset="0"/>
                <a:cs typeface="Times New Roman" panose="02020603050405020304" pitchFamily="18" charset="0"/>
              </a:rPr>
            </a:br>
            <a:r>
              <a:rPr lang="en-US" altLang="en-US" sz="1600" dirty="0">
                <a:latin typeface="Calibri" panose="020F0502020204030204" pitchFamily="34" charset="0"/>
                <a:ea typeface="Calibri" panose="020F0502020204030204" pitchFamily="34" charset="0"/>
                <a:cs typeface="Times New Roman" panose="02020603050405020304" pitchFamily="18" charset="0"/>
              </a:rPr>
              <a:t>Using the formula the value we calculate the value of </a:t>
            </a:r>
            <a:r>
              <a:rPr lang="en-US" altLang="en-US" sz="1600" b="1" dirty="0">
                <a:latin typeface="Calibri" panose="020F0502020204030204" pitchFamily="34" charset="0"/>
                <a:ea typeface="Calibri" panose="020F0502020204030204" pitchFamily="34" charset="0"/>
                <a:cs typeface="Times New Roman" panose="02020603050405020304" pitchFamily="18" charset="0"/>
              </a:rPr>
              <a:t>χ</a:t>
            </a:r>
            <a:r>
              <a:rPr lang="en-US" altLang="en-US" sz="1600" b="1" baseline="30000" dirty="0">
                <a:latin typeface="Calibri" panose="020F0502020204030204" pitchFamily="34" charset="0"/>
                <a:ea typeface="Calibri" panose="020F0502020204030204" pitchFamily="34" charset="0"/>
                <a:cs typeface="Times New Roman" panose="02020603050405020304" pitchFamily="18" charset="0"/>
              </a:rPr>
              <a:t>2</a:t>
            </a:r>
            <a:r>
              <a:rPr lang="en-US" altLang="en-US" sz="1600" b="1" dirty="0">
                <a:latin typeface="Calibri" panose="020F0502020204030204" pitchFamily="34" charset="0"/>
                <a:ea typeface="Calibri" panose="020F0502020204030204" pitchFamily="34" charset="0"/>
                <a:cs typeface="Times New Roman" panose="02020603050405020304" pitchFamily="18" charset="0"/>
              </a:rPr>
              <a:t> calculated = </a:t>
            </a:r>
            <a:r>
              <a:rPr lang="en-US" altLang="en-US" sz="1600" b="1" dirty="0">
                <a:solidFill>
                  <a:srgbClr val="000000"/>
                </a:solidFill>
                <a:latin typeface="Calibri" panose="020F0502020204030204" pitchFamily="34" charset="0"/>
                <a:ea typeface="Times New Roman" panose="02020603050405020304" pitchFamily="18" charset="0"/>
                <a:cs typeface="Calibri" panose="020F0502020204030204" pitchFamily="34" charset="0"/>
              </a:rPr>
              <a:t>55121.49618</a:t>
            </a:r>
            <a:br>
              <a:rPr lang="en-US" altLang="en-US" sz="1600" b="1" dirty="0">
                <a:solidFill>
                  <a:srgbClr val="000000"/>
                </a:solidFill>
                <a:latin typeface="Calibri" panose="020F0502020204030204" pitchFamily="34" charset="0"/>
                <a:ea typeface="Times New Roman" panose="02020603050405020304" pitchFamily="18" charset="0"/>
                <a:cs typeface="Calibri" panose="020F0502020204030204" pitchFamily="34" charset="0"/>
              </a:rPr>
            </a:br>
            <a:br>
              <a:rPr lang="en-US" altLang="en-US" sz="1800" dirty="0"/>
            </a:br>
            <a:r>
              <a:rPr lang="en-US" altLang="en-US" sz="1600" dirty="0">
                <a:latin typeface="Calibri" panose="020F0502020204030204" pitchFamily="34" charset="0"/>
                <a:ea typeface="Calibri" panose="020F0502020204030204" pitchFamily="34" charset="0"/>
                <a:cs typeface="Times New Roman" panose="02020603050405020304" pitchFamily="18" charset="0"/>
              </a:rPr>
              <a:t>Using the χ</a:t>
            </a:r>
            <a:r>
              <a:rPr lang="en-US" altLang="en-US" sz="1600" baseline="30000" dirty="0">
                <a:latin typeface="Calibri" panose="020F0502020204030204" pitchFamily="34" charset="0"/>
                <a:ea typeface="Calibri" panose="020F0502020204030204" pitchFamily="34" charset="0"/>
                <a:cs typeface="Times New Roman" panose="02020603050405020304" pitchFamily="18" charset="0"/>
              </a:rPr>
              <a:t>2</a:t>
            </a:r>
            <a:r>
              <a:rPr lang="en-US" altLang="en-US" sz="1600" b="1" baseline="30000" dirty="0">
                <a:latin typeface="Calibri" panose="020F0502020204030204" pitchFamily="34" charset="0"/>
                <a:ea typeface="Calibri" panose="020F0502020204030204" pitchFamily="34" charset="0"/>
                <a:cs typeface="Times New Roman" panose="02020603050405020304" pitchFamily="18" charset="0"/>
              </a:rPr>
              <a:t> </a:t>
            </a:r>
            <a:r>
              <a:rPr lang="en-US" altLang="en-US" sz="1600" dirty="0">
                <a:latin typeface="Calibri" panose="020F0502020204030204" pitchFamily="34" charset="0"/>
                <a:ea typeface="Calibri" panose="020F0502020204030204" pitchFamily="34" charset="0"/>
                <a:cs typeface="Times New Roman" panose="02020603050405020304" pitchFamily="18" charset="0"/>
              </a:rPr>
              <a:t>table, we get:  </a:t>
            </a:r>
            <a:r>
              <a:rPr lang="en-US" altLang="en-US" sz="1600" b="1" dirty="0">
                <a:latin typeface="Calibri" panose="020F0502020204030204" pitchFamily="34" charset="0"/>
                <a:ea typeface="Calibri" panose="020F0502020204030204" pitchFamily="34" charset="0"/>
                <a:cs typeface="Times New Roman" panose="02020603050405020304" pitchFamily="18" charset="0"/>
              </a:rPr>
              <a:t>χ</a:t>
            </a:r>
            <a:r>
              <a:rPr lang="en-US" altLang="en-US" sz="1600" b="1" baseline="30000" dirty="0">
                <a:latin typeface="Calibri" panose="020F0502020204030204" pitchFamily="34" charset="0"/>
                <a:ea typeface="Calibri" panose="020F0502020204030204" pitchFamily="34" charset="0"/>
                <a:cs typeface="Times New Roman" panose="02020603050405020304" pitchFamily="18" charset="0"/>
              </a:rPr>
              <a:t>2 </a:t>
            </a:r>
            <a:r>
              <a:rPr lang="en-US" altLang="en-US" sz="1600" b="1" dirty="0">
                <a:latin typeface="Calibri" panose="020F0502020204030204" pitchFamily="34" charset="0"/>
                <a:ea typeface="Calibri" panose="020F0502020204030204" pitchFamily="34" charset="0"/>
                <a:cs typeface="Times New Roman" panose="02020603050405020304" pitchFamily="18" charset="0"/>
              </a:rPr>
              <a:t>tabulated= </a:t>
            </a:r>
            <a:r>
              <a:rPr lang="en-US" altLang="en-US" sz="1600" b="1" dirty="0">
                <a:solidFill>
                  <a:srgbClr val="000000"/>
                </a:solidFill>
                <a:latin typeface="Calibri" panose="020F0502020204030204" pitchFamily="34" charset="0"/>
                <a:ea typeface="Times New Roman" panose="02020603050405020304" pitchFamily="18" charset="0"/>
                <a:cs typeface="Calibri" panose="020F0502020204030204" pitchFamily="34" charset="0"/>
              </a:rPr>
              <a:t>11.07</a:t>
            </a:r>
            <a:br>
              <a:rPr lang="en-US" altLang="en-US" sz="1800" b="1" dirty="0">
                <a:solidFill>
                  <a:srgbClr val="000000"/>
                </a:solidFill>
                <a:latin typeface="Calibri" panose="020F0502020204030204" pitchFamily="34" charset="0"/>
                <a:ea typeface="Times New Roman" panose="02020603050405020304" pitchFamily="18" charset="0"/>
                <a:cs typeface="Calibri" panose="020F0502020204030204" pitchFamily="34" charset="0"/>
              </a:rPr>
            </a:br>
            <a:br>
              <a:rPr lang="en-US" altLang="en-US" sz="1800" dirty="0"/>
            </a:br>
            <a:r>
              <a:rPr lang="en-US" altLang="en-US" sz="1800" b="1" dirty="0">
                <a:solidFill>
                  <a:srgbClr val="000000"/>
                </a:solidFill>
                <a:latin typeface="Calibri" panose="020F0502020204030204" pitchFamily="34" charset="0"/>
                <a:ea typeface="Times New Roman" panose="02020603050405020304" pitchFamily="18" charset="0"/>
                <a:cs typeface="Calibri" panose="020F0502020204030204" pitchFamily="34" charset="0"/>
              </a:rPr>
              <a:t>Conclusion:</a:t>
            </a:r>
            <a:br>
              <a:rPr lang="en-US" altLang="en-US" sz="1800" dirty="0"/>
            </a:br>
            <a:r>
              <a:rPr lang="en-US" altLang="en-US" sz="1600" dirty="0">
                <a:solidFill>
                  <a:srgbClr val="000000"/>
                </a:solidFill>
                <a:latin typeface="Calibri" panose="020F0502020204030204" pitchFamily="34" charset="0"/>
                <a:ea typeface="Times New Roman" panose="02020603050405020304" pitchFamily="18" charset="0"/>
                <a:cs typeface="Calibri" panose="020F0502020204030204" pitchFamily="34" charset="0"/>
              </a:rPr>
              <a:t>Since </a:t>
            </a:r>
            <a:r>
              <a:rPr lang="en-US" altLang="en-US" sz="1600" dirty="0">
                <a:latin typeface="Calibri" panose="020F0502020204030204" pitchFamily="34" charset="0"/>
                <a:ea typeface="Calibri" panose="020F0502020204030204" pitchFamily="34" charset="0"/>
                <a:cs typeface="Times New Roman" panose="02020603050405020304" pitchFamily="18" charset="0"/>
              </a:rPr>
              <a:t>χ</a:t>
            </a:r>
            <a:r>
              <a:rPr lang="en-US" altLang="en-US" sz="1600" baseline="30000" dirty="0">
                <a:latin typeface="Calibri" panose="020F0502020204030204" pitchFamily="34" charset="0"/>
                <a:ea typeface="Calibri" panose="020F0502020204030204" pitchFamily="34" charset="0"/>
                <a:cs typeface="Times New Roman" panose="02020603050405020304" pitchFamily="18" charset="0"/>
              </a:rPr>
              <a:t>2 </a:t>
            </a:r>
            <a:r>
              <a:rPr lang="en-US" altLang="en-US" sz="1600" dirty="0">
                <a:latin typeface="Calibri" panose="020F0502020204030204" pitchFamily="34" charset="0"/>
                <a:ea typeface="Calibri" panose="020F0502020204030204" pitchFamily="34" charset="0"/>
                <a:cs typeface="Times New Roman" panose="02020603050405020304" pitchFamily="18" charset="0"/>
              </a:rPr>
              <a:t>tabulated</a:t>
            </a:r>
            <a:r>
              <a:rPr lang="en-US" altLang="en-US" sz="16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is less than </a:t>
            </a:r>
            <a:r>
              <a:rPr lang="en-US" altLang="en-US" sz="1600" dirty="0">
                <a:latin typeface="Calibri" panose="020F0502020204030204" pitchFamily="34" charset="0"/>
                <a:ea typeface="Calibri" panose="020F0502020204030204" pitchFamily="34" charset="0"/>
                <a:cs typeface="Times New Roman" panose="02020603050405020304" pitchFamily="18" charset="0"/>
              </a:rPr>
              <a:t>χ</a:t>
            </a:r>
            <a:r>
              <a:rPr lang="en-US" altLang="en-US" sz="1600" baseline="30000" dirty="0">
                <a:latin typeface="Calibri" panose="020F0502020204030204" pitchFamily="34" charset="0"/>
                <a:ea typeface="Calibri" panose="020F0502020204030204" pitchFamily="34" charset="0"/>
                <a:cs typeface="Times New Roman" panose="02020603050405020304" pitchFamily="18" charset="0"/>
              </a:rPr>
              <a:t>2</a:t>
            </a:r>
            <a:r>
              <a:rPr lang="en-US" altLang="en-US" sz="1600" dirty="0">
                <a:latin typeface="Calibri" panose="020F0502020204030204" pitchFamily="34" charset="0"/>
                <a:ea typeface="Calibri" panose="020F0502020204030204" pitchFamily="34" charset="0"/>
                <a:cs typeface="Times New Roman" panose="02020603050405020304" pitchFamily="18" charset="0"/>
              </a:rPr>
              <a:t> calculated that is </a:t>
            </a:r>
            <a:r>
              <a:rPr lang="en-US" altLang="en-US" sz="1600" dirty="0">
                <a:solidFill>
                  <a:srgbClr val="000000"/>
                </a:solidFill>
                <a:latin typeface="Calibri" panose="020F0502020204030204" pitchFamily="34" charset="0"/>
                <a:ea typeface="Times New Roman" panose="02020603050405020304" pitchFamily="18" charset="0"/>
                <a:cs typeface="Calibri" panose="020F0502020204030204" pitchFamily="34" charset="0"/>
              </a:rPr>
              <a:t>11.07 &lt; 55121.49618. Thus, we reject the null hypothesis (</a:t>
            </a:r>
            <a:r>
              <a:rPr lang="en-US" sz="1600" b="1" dirty="0"/>
              <a:t>H</a:t>
            </a:r>
            <a:r>
              <a:rPr lang="en-US" sz="1600" b="1" baseline="-25000" dirty="0"/>
              <a:t>0</a:t>
            </a:r>
            <a:r>
              <a:rPr lang="en-US" altLang="en-US" sz="1600" dirty="0">
                <a:solidFill>
                  <a:srgbClr val="000000"/>
                </a:solidFill>
                <a:latin typeface="Calibri" panose="020F0502020204030204" pitchFamily="34" charset="0"/>
                <a:ea typeface="Times New Roman" panose="02020603050405020304" pitchFamily="18" charset="0"/>
                <a:cs typeface="Calibri" panose="020F0502020204030204" pitchFamily="34" charset="0"/>
              </a:rPr>
              <a:t>).</a:t>
            </a:r>
            <a:br>
              <a:rPr lang="en-US" altLang="en-US" sz="1800" dirty="0">
                <a:solidFill>
                  <a:srgbClr val="000000"/>
                </a:solidFill>
                <a:latin typeface="Calibri" panose="020F0502020204030204" pitchFamily="34" charset="0"/>
                <a:ea typeface="Times New Roman" panose="02020603050405020304" pitchFamily="18" charset="0"/>
                <a:cs typeface="Calibri" panose="020F0502020204030204" pitchFamily="34" charset="0"/>
              </a:rPr>
            </a:br>
            <a:br>
              <a:rPr lang="en-US" altLang="en-US" sz="1800" dirty="0"/>
            </a:br>
            <a:r>
              <a:rPr lang="en-US" altLang="en-US" sz="1800" dirty="0">
                <a:solidFill>
                  <a:srgbClr val="000000"/>
                </a:solidFill>
                <a:latin typeface="Calibri" panose="020F0502020204030204" pitchFamily="34" charset="0"/>
                <a:ea typeface="Times New Roman" panose="02020603050405020304" pitchFamily="18" charset="0"/>
                <a:cs typeface="Calibri" panose="020F0502020204030204" pitchFamily="34" charset="0"/>
              </a:rPr>
              <a:t>Hence, there is a difference between the cancer cases of males and females</a:t>
            </a:r>
            <a:r>
              <a:rPr lang="en-US" altLang="en-US" sz="2800" dirty="0">
                <a:solidFill>
                  <a:srgbClr val="000000"/>
                </a:solidFill>
                <a:latin typeface="Calibri" panose="020F0502020204030204" pitchFamily="34" charset="0"/>
                <a:ea typeface="Times New Roman" panose="02020603050405020304" pitchFamily="18" charset="0"/>
                <a:cs typeface="Calibri" panose="020F0502020204030204" pitchFamily="34" charset="0"/>
              </a:rPr>
              <a:t>.</a:t>
            </a:r>
            <a:br>
              <a:rPr lang="en-US" altLang="en-US" sz="3600" dirty="0">
                <a:latin typeface="Arial" panose="020B0604020202020204" pitchFamily="34" charset="0"/>
              </a:rPr>
            </a:br>
            <a:endParaRPr lang="en-US" dirty="0"/>
          </a:p>
        </p:txBody>
      </p:sp>
      <p:graphicFrame>
        <p:nvGraphicFramePr>
          <p:cNvPr id="5" name="Picture Placeholder 4">
            <a:extLst>
              <a:ext uri="{FF2B5EF4-FFF2-40B4-BE49-F238E27FC236}">
                <a16:creationId xmlns:a16="http://schemas.microsoft.com/office/drawing/2014/main" id="{9F8701EC-D903-15EB-8E6A-E12BD8DC1217}"/>
              </a:ext>
            </a:extLst>
          </p:cNvPr>
          <p:cNvGraphicFramePr>
            <a:graphicFrameLocks noGrp="1"/>
          </p:cNvGraphicFramePr>
          <p:nvPr>
            <p:ph type="pic" idx="1"/>
            <p:extLst>
              <p:ext uri="{D42A27DB-BD31-4B8C-83A1-F6EECF244321}">
                <p14:modId xmlns:p14="http://schemas.microsoft.com/office/powerpoint/2010/main" val="20844593"/>
              </p:ext>
            </p:extLst>
          </p:nvPr>
        </p:nvGraphicFramePr>
        <p:xfrm>
          <a:off x="380121" y="501445"/>
          <a:ext cx="6364808" cy="5496221"/>
        </p:xfrm>
        <a:graphic>
          <a:graphicData uri="http://schemas.openxmlformats.org/drawingml/2006/table">
            <a:tbl>
              <a:tblPr firstRow="1" firstCol="1" bandRow="1">
                <a:tableStyleId>{5C22544A-7EE6-4342-B048-85BDC9FD1C3A}</a:tableStyleId>
              </a:tblPr>
              <a:tblGrid>
                <a:gridCol w="1580005">
                  <a:extLst>
                    <a:ext uri="{9D8B030D-6E8A-4147-A177-3AD203B41FA5}">
                      <a16:colId xmlns:a16="http://schemas.microsoft.com/office/drawing/2014/main" val="2456324832"/>
                    </a:ext>
                  </a:extLst>
                </a:gridCol>
                <a:gridCol w="793735">
                  <a:extLst>
                    <a:ext uri="{9D8B030D-6E8A-4147-A177-3AD203B41FA5}">
                      <a16:colId xmlns:a16="http://schemas.microsoft.com/office/drawing/2014/main" val="2578562736"/>
                    </a:ext>
                  </a:extLst>
                </a:gridCol>
                <a:gridCol w="865255">
                  <a:extLst>
                    <a:ext uri="{9D8B030D-6E8A-4147-A177-3AD203B41FA5}">
                      <a16:colId xmlns:a16="http://schemas.microsoft.com/office/drawing/2014/main" val="762145251"/>
                    </a:ext>
                  </a:extLst>
                </a:gridCol>
                <a:gridCol w="1135255">
                  <a:extLst>
                    <a:ext uri="{9D8B030D-6E8A-4147-A177-3AD203B41FA5}">
                      <a16:colId xmlns:a16="http://schemas.microsoft.com/office/drawing/2014/main" val="750118203"/>
                    </a:ext>
                  </a:extLst>
                </a:gridCol>
                <a:gridCol w="1990558">
                  <a:extLst>
                    <a:ext uri="{9D8B030D-6E8A-4147-A177-3AD203B41FA5}">
                      <a16:colId xmlns:a16="http://schemas.microsoft.com/office/drawing/2014/main" val="4289137254"/>
                    </a:ext>
                  </a:extLst>
                </a:gridCol>
              </a:tblGrid>
              <a:tr h="208116">
                <a:tc rowSpan="2">
                  <a:txBody>
                    <a:bodyPr/>
                    <a:lstStyle/>
                    <a:p>
                      <a:pPr marL="0" marR="0" algn="ctr">
                        <a:lnSpc>
                          <a:spcPct val="115000"/>
                        </a:lnSpc>
                        <a:spcAft>
                          <a:spcPts val="800"/>
                        </a:spcAft>
                        <a:buNone/>
                      </a:pPr>
                      <a:r>
                        <a:rPr lang="en-US" sz="1000" kern="0" dirty="0">
                          <a:effectLst/>
                        </a:rPr>
                        <a:t>Class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ctr"/>
                </a:tc>
                <a:tc gridSpan="2">
                  <a:txBody>
                    <a:bodyPr/>
                    <a:lstStyle/>
                    <a:p>
                      <a:pPr marL="0" marR="0" algn="ctr">
                        <a:lnSpc>
                          <a:spcPct val="115000"/>
                        </a:lnSpc>
                        <a:spcAft>
                          <a:spcPts val="800"/>
                        </a:spcAft>
                        <a:buNone/>
                      </a:pPr>
                      <a:r>
                        <a:rPr lang="en-US" sz="1000" kern="0">
                          <a:effectLst/>
                        </a:rPr>
                        <a:t>Frequency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hMerge="1">
                  <a:txBody>
                    <a:bodyPr/>
                    <a:lstStyle/>
                    <a:p>
                      <a:endParaRPr lang="en-US"/>
                    </a:p>
                  </a:txBody>
                  <a:tcPr/>
                </a:tc>
                <a:tc rowSpan="2">
                  <a:txBody>
                    <a:bodyPr/>
                    <a:lstStyle/>
                    <a:p>
                      <a:pPr marL="0" marR="0" algn="ctr">
                        <a:lnSpc>
                          <a:spcPct val="115000"/>
                        </a:lnSpc>
                        <a:spcAft>
                          <a:spcPts val="800"/>
                        </a:spcAft>
                        <a:buNone/>
                      </a:pPr>
                      <a:r>
                        <a:rPr lang="en-US" sz="1000" kern="0">
                          <a:effectLst/>
                        </a:rPr>
                        <a:t>Observed - Expected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ctr"/>
                </a:tc>
                <a:tc rowSpan="2">
                  <a:txBody>
                    <a:bodyPr/>
                    <a:lstStyle/>
                    <a:p>
                      <a:pPr marL="0" marR="0" algn="ctr">
                        <a:lnSpc>
                          <a:spcPct val="115000"/>
                        </a:lnSpc>
                        <a:spcAft>
                          <a:spcPts val="800"/>
                        </a:spcAft>
                        <a:buNone/>
                      </a:pPr>
                      <a:r>
                        <a:rPr lang="en-US" sz="1000" kern="0">
                          <a:effectLst/>
                        </a:rPr>
                        <a:t>(Observed - Expected) ^2/Expected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ctr"/>
                </a:tc>
                <a:extLst>
                  <a:ext uri="{0D108BD9-81ED-4DB2-BD59-A6C34878D82A}">
                    <a16:rowId xmlns:a16="http://schemas.microsoft.com/office/drawing/2014/main" val="2922555304"/>
                  </a:ext>
                </a:extLst>
              </a:tr>
              <a:tr h="221093">
                <a:tc vMerge="1">
                  <a:txBody>
                    <a:bodyPr/>
                    <a:lstStyle/>
                    <a:p>
                      <a:endParaRPr lang="en-US"/>
                    </a:p>
                  </a:txBody>
                  <a:tcPr/>
                </a:tc>
                <a:tc>
                  <a:txBody>
                    <a:bodyPr/>
                    <a:lstStyle/>
                    <a:p>
                      <a:pPr marL="0" marR="0">
                        <a:lnSpc>
                          <a:spcPct val="115000"/>
                        </a:lnSpc>
                        <a:spcAft>
                          <a:spcPts val="800"/>
                        </a:spcAft>
                        <a:buNone/>
                      </a:pPr>
                      <a:r>
                        <a:rPr lang="en-US" sz="1000" kern="0">
                          <a:effectLst/>
                        </a:rPr>
                        <a:t>Observed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nSpc>
                          <a:spcPct val="115000"/>
                        </a:lnSpc>
                        <a:spcAft>
                          <a:spcPts val="800"/>
                        </a:spcAft>
                        <a:buNone/>
                      </a:pPr>
                      <a:r>
                        <a:rPr lang="en-US" sz="1000" kern="0" dirty="0">
                          <a:effectLst/>
                        </a:rPr>
                        <a:t>Expected</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539122299"/>
                  </a:ext>
                </a:extLst>
              </a:tr>
              <a:tr h="422251">
                <a:tc>
                  <a:txBody>
                    <a:bodyPr/>
                    <a:lstStyle/>
                    <a:p>
                      <a:pPr marL="0" marR="0" algn="ctr">
                        <a:lnSpc>
                          <a:spcPct val="115000"/>
                        </a:lnSpc>
                        <a:spcAft>
                          <a:spcPts val="800"/>
                        </a:spcAft>
                        <a:buNone/>
                      </a:pPr>
                      <a:r>
                        <a:rPr lang="en-US" sz="1000" kern="0">
                          <a:effectLst/>
                        </a:rPr>
                        <a:t>Central Zone 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4280917</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4253846.95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27070.04863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172.2646681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1703596523"/>
                  </a:ext>
                </a:extLst>
              </a:tr>
              <a:tr h="422251">
                <a:tc>
                  <a:txBody>
                    <a:bodyPr/>
                    <a:lstStyle/>
                    <a:p>
                      <a:pPr marL="0" marR="0" algn="ctr">
                        <a:lnSpc>
                          <a:spcPct val="115000"/>
                        </a:lnSpc>
                        <a:spcAft>
                          <a:spcPts val="800"/>
                        </a:spcAft>
                        <a:buNone/>
                      </a:pPr>
                      <a:r>
                        <a:rPr lang="en-US" sz="1000" kern="0">
                          <a:effectLst/>
                        </a:rPr>
                        <a:t>Central Zone Female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3969935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3997005.05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-27070.04863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183.3341525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3872870033"/>
                  </a:ext>
                </a:extLst>
              </a:tr>
              <a:tr h="422251">
                <a:tc>
                  <a:txBody>
                    <a:bodyPr/>
                    <a:lstStyle/>
                    <a:p>
                      <a:pPr marL="0" marR="0" algn="ctr">
                        <a:lnSpc>
                          <a:spcPct val="115000"/>
                        </a:lnSpc>
                        <a:spcAft>
                          <a:spcPts val="800"/>
                        </a:spcAft>
                        <a:buNone/>
                      </a:pPr>
                      <a:r>
                        <a:rPr lang="en-US" sz="1000" kern="0">
                          <a:effectLst/>
                        </a:rPr>
                        <a:t>East Zone 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9270946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9232894.76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38051.24171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156.8193978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3214324868"/>
                  </a:ext>
                </a:extLst>
              </a:tr>
              <a:tr h="422251">
                <a:tc>
                  <a:txBody>
                    <a:bodyPr/>
                    <a:lstStyle/>
                    <a:p>
                      <a:pPr marL="0" marR="0" algn="ctr">
                        <a:lnSpc>
                          <a:spcPct val="115000"/>
                        </a:lnSpc>
                        <a:spcAft>
                          <a:spcPts val="800"/>
                        </a:spcAft>
                        <a:buNone/>
                      </a:pPr>
                      <a:r>
                        <a:rPr lang="en-US" sz="1000" kern="0">
                          <a:effectLst/>
                        </a:rPr>
                        <a:t>East Zone Female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8637373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8675424.24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-38051.24171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166.8963909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2227941847"/>
                  </a:ext>
                </a:extLst>
              </a:tr>
              <a:tr h="422251">
                <a:tc>
                  <a:txBody>
                    <a:bodyPr/>
                    <a:lstStyle/>
                    <a:p>
                      <a:pPr marL="0" marR="0" algn="ctr">
                        <a:lnSpc>
                          <a:spcPct val="115000"/>
                        </a:lnSpc>
                        <a:spcAft>
                          <a:spcPts val="800"/>
                        </a:spcAft>
                        <a:buNone/>
                      </a:pPr>
                      <a:r>
                        <a:rPr lang="en-US" sz="1000" kern="0">
                          <a:effectLst/>
                        </a:rPr>
                        <a:t>North East Zone 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27541445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28119058.1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-577613.0949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11865.15161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1094057936"/>
                  </a:ext>
                </a:extLst>
              </a:tr>
              <a:tr h="422251">
                <a:tc>
                  <a:txBody>
                    <a:bodyPr/>
                    <a:lstStyle/>
                    <a:p>
                      <a:pPr marL="0" marR="0" algn="ctr">
                        <a:lnSpc>
                          <a:spcPct val="115000"/>
                        </a:lnSpc>
                        <a:spcAft>
                          <a:spcPts val="800"/>
                        </a:spcAft>
                        <a:buNone/>
                      </a:pPr>
                      <a:r>
                        <a:rPr lang="en-US" sz="1000" kern="0">
                          <a:effectLst/>
                        </a:rPr>
                        <a:t>North East Zone Female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26998878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26421264.9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577613.0949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12627.5895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2974286177"/>
                  </a:ext>
                </a:extLst>
              </a:tr>
              <a:tr h="422251">
                <a:tc>
                  <a:txBody>
                    <a:bodyPr/>
                    <a:lstStyle/>
                    <a:p>
                      <a:pPr marL="0" marR="0" algn="ctr">
                        <a:lnSpc>
                          <a:spcPct val="115000"/>
                        </a:lnSpc>
                        <a:spcAft>
                          <a:spcPts val="800"/>
                        </a:spcAft>
                        <a:buNone/>
                      </a:pPr>
                      <a:r>
                        <a:rPr lang="en-US" sz="1000" kern="0">
                          <a:effectLst/>
                        </a:rPr>
                        <a:t>North Zone 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32929570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32422865.3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506704.6848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7918.783091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2719338793"/>
                  </a:ext>
                </a:extLst>
              </a:tr>
              <a:tr h="422251">
                <a:tc>
                  <a:txBody>
                    <a:bodyPr/>
                    <a:lstStyle/>
                    <a:p>
                      <a:pPr marL="0" marR="0" algn="ctr">
                        <a:lnSpc>
                          <a:spcPct val="115000"/>
                        </a:lnSpc>
                        <a:spcAft>
                          <a:spcPts val="800"/>
                        </a:spcAft>
                        <a:buNone/>
                      </a:pPr>
                      <a:r>
                        <a:rPr lang="en-US" sz="1000" kern="0">
                          <a:effectLst/>
                        </a:rPr>
                        <a:t>North Zone Female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29958509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30465213.7</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-506704.6848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8427.632916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1167359340"/>
                  </a:ext>
                </a:extLst>
              </a:tr>
              <a:tr h="422251">
                <a:tc>
                  <a:txBody>
                    <a:bodyPr/>
                    <a:lstStyle/>
                    <a:p>
                      <a:pPr marL="0" marR="0" algn="ctr">
                        <a:lnSpc>
                          <a:spcPct val="115000"/>
                        </a:lnSpc>
                        <a:spcAft>
                          <a:spcPts val="800"/>
                        </a:spcAft>
                        <a:buNone/>
                      </a:pPr>
                      <a:r>
                        <a:rPr lang="en-US" sz="1000" kern="0">
                          <a:effectLst/>
                        </a:rPr>
                        <a:t>South Zone 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31641265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31991629.1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-350364.0653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3837.096823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1697387004"/>
                  </a:ext>
                </a:extLst>
              </a:tr>
              <a:tr h="422251">
                <a:tc>
                  <a:txBody>
                    <a:bodyPr/>
                    <a:lstStyle/>
                    <a:p>
                      <a:pPr marL="0" marR="0" algn="ctr">
                        <a:lnSpc>
                          <a:spcPct val="115000"/>
                        </a:lnSpc>
                        <a:spcAft>
                          <a:spcPts val="800"/>
                        </a:spcAft>
                        <a:buNone/>
                      </a:pPr>
                      <a:r>
                        <a:rPr lang="en-US" sz="1000" kern="0">
                          <a:effectLst/>
                        </a:rPr>
                        <a:t>South Zone Female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30410379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30060014.9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350364.0653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4083.663249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1092620386"/>
                  </a:ext>
                </a:extLst>
              </a:tr>
              <a:tr h="422251">
                <a:tc>
                  <a:txBody>
                    <a:bodyPr/>
                    <a:lstStyle/>
                    <a:p>
                      <a:pPr marL="0" marR="0" algn="ctr">
                        <a:lnSpc>
                          <a:spcPct val="115000"/>
                        </a:lnSpc>
                        <a:spcAft>
                          <a:spcPts val="800"/>
                        </a:spcAft>
                        <a:buNone/>
                      </a:pPr>
                      <a:r>
                        <a:rPr lang="en-US" sz="1000" kern="0">
                          <a:effectLst/>
                        </a:rPr>
                        <a:t>West Zone 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46436043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46079891.8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356151.185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2752.690199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2344129179"/>
                  </a:ext>
                </a:extLst>
              </a:tr>
              <a:tr h="422251">
                <a:tc>
                  <a:txBody>
                    <a:bodyPr/>
                    <a:lstStyle/>
                    <a:p>
                      <a:pPr marL="0" marR="0" algn="ctr">
                        <a:lnSpc>
                          <a:spcPct val="115000"/>
                        </a:lnSpc>
                        <a:spcAft>
                          <a:spcPts val="800"/>
                        </a:spcAft>
                        <a:buNone/>
                      </a:pPr>
                      <a:r>
                        <a:rPr lang="en-US" sz="1000" kern="0">
                          <a:effectLst/>
                        </a:rPr>
                        <a:t>West Zone Female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42941495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43297646.2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a:effectLst/>
                        </a:rPr>
                        <a:t>-356151.185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tc>
                  <a:txBody>
                    <a:bodyPr/>
                    <a:lstStyle/>
                    <a:p>
                      <a:pPr marL="0" marR="0" algn="ctr">
                        <a:lnSpc>
                          <a:spcPct val="115000"/>
                        </a:lnSpc>
                        <a:spcAft>
                          <a:spcPts val="800"/>
                        </a:spcAft>
                        <a:buNone/>
                      </a:pPr>
                      <a:r>
                        <a:rPr lang="en-US" sz="1000" kern="0" dirty="0">
                          <a:effectLst/>
                        </a:rPr>
                        <a:t>2929.574185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333" marR="61333" marT="0" marB="0" anchor="b"/>
                </a:tc>
                <a:extLst>
                  <a:ext uri="{0D108BD9-81ED-4DB2-BD59-A6C34878D82A}">
                    <a16:rowId xmlns:a16="http://schemas.microsoft.com/office/drawing/2014/main" val="1460125524"/>
                  </a:ext>
                </a:extLst>
              </a:tr>
            </a:tbl>
          </a:graphicData>
        </a:graphic>
      </p:graphicFrame>
      <p:sp>
        <p:nvSpPr>
          <p:cNvPr id="6" name="Text Box 1">
            <a:extLst>
              <a:ext uri="{FF2B5EF4-FFF2-40B4-BE49-F238E27FC236}">
                <a16:creationId xmlns:a16="http://schemas.microsoft.com/office/drawing/2014/main" id="{98920CC6-86DB-1089-FC29-444ED67540A9}"/>
              </a:ext>
            </a:extLst>
          </p:cNvPr>
          <p:cNvSpPr txBox="1">
            <a:spLocks noChangeArrowheads="1"/>
          </p:cNvSpPr>
          <p:nvPr/>
        </p:nvSpPr>
        <p:spPr bwMode="auto">
          <a:xfrm>
            <a:off x="2803401" y="6026355"/>
            <a:ext cx="1803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Table 2.4: χ</a:t>
            </a:r>
            <a:r>
              <a:rPr kumimoji="0" lang="en-US" altLang="en-US" sz="12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calculation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4455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56952-3013-D332-DB55-B197DEBDF98B}"/>
              </a:ext>
            </a:extLst>
          </p:cNvPr>
          <p:cNvSpPr>
            <a:spLocks noGrp="1"/>
          </p:cNvSpPr>
          <p:nvPr>
            <p:ph type="title"/>
          </p:nvPr>
        </p:nvSpPr>
        <p:spPr>
          <a:xfrm>
            <a:off x="805064" y="1205003"/>
            <a:ext cx="5248390" cy="1090247"/>
          </a:xfrm>
        </p:spPr>
        <p:txBody>
          <a:bodyPr>
            <a:normAutofit fontScale="90000"/>
          </a:bodyPr>
          <a:lstStyle/>
          <a:p>
            <a:pPr lvl="0" eaLnBrk="0" fontAlgn="base" hangingPunct="0">
              <a:lnSpc>
                <a:spcPct val="100000"/>
              </a:lnSpc>
              <a:spcAft>
                <a:spcPct val="0"/>
              </a:spcAft>
              <a:tabLst>
                <a:tab pos="822325" algn="l"/>
              </a:tabLst>
            </a:pPr>
            <a:r>
              <a:rPr lang="en-US" altLang="en-US" sz="2200" b="1" dirty="0">
                <a:latin typeface="Berlin Sans FB Demi" panose="020E0802020502020306" pitchFamily="34" charset="0"/>
              </a:rPr>
              <a:t>2. To assess whether geographical zone of residence influences the probability of individuals being diagnosed cancer positive.</a:t>
            </a:r>
            <a:br>
              <a:rPr lang="en-US" altLang="en-US" sz="1800" dirty="0"/>
            </a:br>
            <a:br>
              <a:rPr lang="en-US" altLang="en-US" sz="3600" dirty="0">
                <a:latin typeface="Arial" panose="020B0604020202020204" pitchFamily="34" charset="0"/>
              </a:rPr>
            </a:br>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A6F88BA-9E01-1DFF-0104-C21F213E0179}"/>
                  </a:ext>
                </a:extLst>
              </p:cNvPr>
              <p:cNvSpPr>
                <a:spLocks noGrp="1"/>
              </p:cNvSpPr>
              <p:nvPr>
                <p:ph type="body" sz="half" idx="2"/>
              </p:nvPr>
            </p:nvSpPr>
            <p:spPr>
              <a:xfrm>
                <a:off x="976132" y="1326437"/>
                <a:ext cx="3932237" cy="5155386"/>
              </a:xfrm>
            </p:spPr>
            <p:txBody>
              <a:bodyPr>
                <a:normAutofit fontScale="77500" lnSpcReduction="20000"/>
              </a:bodyPr>
              <a:lstStyle/>
              <a:p>
                <a:endParaRPr lang="en-US" sz="2100" dirty="0"/>
              </a:p>
              <a:p>
                <a:pPr lvl="0"/>
                <a:r>
                  <a:rPr lang="en-US" sz="2100" b="1" dirty="0"/>
                  <a:t>H</a:t>
                </a:r>
                <a:r>
                  <a:rPr lang="en-US" sz="2100" b="1" baseline="-25000" dirty="0"/>
                  <a:t>0</a:t>
                </a:r>
                <a:r>
                  <a:rPr lang="en-US" sz="2100" b="1" dirty="0"/>
                  <a:t> (Null Hypothesis)</a:t>
                </a:r>
              </a:p>
              <a:p>
                <a:r>
                  <a:rPr lang="en-US" sz="2100" dirty="0"/>
                  <a:t>Cancer cases are equally distributed across all zones</a:t>
                </a:r>
              </a:p>
              <a:p>
                <a:pPr lvl="0"/>
                <a:r>
                  <a:rPr lang="en-US" sz="2100" b="1" dirty="0"/>
                  <a:t>H</a:t>
                </a:r>
                <a:r>
                  <a:rPr lang="en-US" sz="2100" b="1" baseline="-25000" dirty="0"/>
                  <a:t>1</a:t>
                </a:r>
                <a:r>
                  <a:rPr lang="en-US" sz="2100" b="1" dirty="0"/>
                  <a:t> (Alternative Hypothesis):</a:t>
                </a:r>
              </a:p>
              <a:p>
                <a:r>
                  <a:rPr lang="en-US" sz="2100" dirty="0"/>
                  <a:t>Cancer cases are not equally distributed across all zones</a:t>
                </a:r>
              </a:p>
              <a:p>
                <a:pPr lvl="0" eaLnBrk="0" fontAlgn="base" hangingPunct="0">
                  <a:lnSpc>
                    <a:spcPct val="100000"/>
                  </a:lnSpc>
                  <a:spcBef>
                    <a:spcPct val="0"/>
                  </a:spcBef>
                  <a:spcAft>
                    <a:spcPct val="0"/>
                  </a:spcAft>
                  <a:tabLst>
                    <a:tab pos="2971800" algn="ctr"/>
                  </a:tabLst>
                </a:pPr>
                <a:endParaRPr lang="en-US" altLang="en-US" sz="2100" dirty="0">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tabLst>
                    <a:tab pos="2971800" algn="ctr"/>
                  </a:tabLst>
                </a:pPr>
                <a:endParaRPr lang="en-US" altLang="en-US" sz="2100" dirty="0">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tabLst>
                    <a:tab pos="2971800" algn="ctr"/>
                  </a:tabLst>
                </a:pPr>
                <a:r>
                  <a:rPr lang="en-US" altLang="en-US" sz="2100" dirty="0">
                    <a:latin typeface="Calibri" panose="020F0502020204030204" pitchFamily="34" charset="0"/>
                    <a:ea typeface="Calibri" panose="020F0502020204030204" pitchFamily="34" charset="0"/>
                    <a:cs typeface="Times New Roman" panose="02020603050405020304" pitchFamily="18" charset="0"/>
                  </a:rPr>
                  <a:t>The χ</a:t>
                </a:r>
                <a:r>
                  <a:rPr lang="en-US" altLang="en-US" sz="2100" baseline="30000" dirty="0">
                    <a:latin typeface="Calibri" panose="020F0502020204030204" pitchFamily="34" charset="0"/>
                    <a:ea typeface="Calibri" panose="020F0502020204030204" pitchFamily="34" charset="0"/>
                    <a:cs typeface="Times New Roman" panose="02020603050405020304" pitchFamily="18" charset="0"/>
                  </a:rPr>
                  <a:t>2</a:t>
                </a:r>
                <a:r>
                  <a:rPr lang="en-US" altLang="en-US" sz="2100" b="1" baseline="30000" dirty="0">
                    <a:latin typeface="Calibri" panose="020F0502020204030204" pitchFamily="34" charset="0"/>
                    <a:ea typeface="Calibri" panose="020F0502020204030204" pitchFamily="34" charset="0"/>
                    <a:cs typeface="Times New Roman" panose="02020603050405020304" pitchFamily="18" charset="0"/>
                  </a:rPr>
                  <a:t> </a:t>
                </a:r>
                <a:r>
                  <a:rPr lang="en-US" altLang="en-US" sz="2100" dirty="0">
                    <a:latin typeface="Calibri" panose="020F0502020204030204" pitchFamily="34" charset="0"/>
                    <a:ea typeface="Calibri" panose="020F0502020204030204" pitchFamily="34" charset="0"/>
                    <a:cs typeface="Times New Roman" panose="02020603050405020304" pitchFamily="18" charset="0"/>
                  </a:rPr>
                  <a:t>term in table 2.7 is calculated using:</a:t>
                </a:r>
                <a:endParaRPr lang="en-US" altLang="en-US" sz="2100" dirty="0"/>
              </a:p>
              <a:p>
                <a:r>
                  <a:rPr lang="en-US" b="1" dirty="0"/>
                  <a:t>   </a:t>
                </a:r>
                <a:r>
                  <a:rPr lang="en-US" sz="1800" b="1" dirty="0"/>
                  <a:t> χ</a:t>
                </a:r>
                <a:r>
                  <a:rPr lang="en-US" sz="1800" b="1" baseline="30000" dirty="0"/>
                  <a:t>2 = </a:t>
                </a:r>
                <a14:m>
                  <m:oMath xmlns:m="http://schemas.openxmlformats.org/officeDocument/2006/math">
                    <m:f>
                      <m:fPr>
                        <m:ctrlPr>
                          <a:rPr lang="en-US" sz="1800" b="1" i="1">
                            <a:latin typeface="Cambria Math" panose="02040503050406030204" pitchFamily="18" charset="0"/>
                          </a:rPr>
                        </m:ctrlPr>
                      </m:fPr>
                      <m:num>
                        <m:r>
                          <a:rPr lang="en-US" sz="1800" b="1" baseline="30000">
                            <a:latin typeface="Cambria Math" panose="02040503050406030204" pitchFamily="18" charset="0"/>
                          </a:rPr>
                          <m:t>(</m:t>
                        </m:r>
                        <m:r>
                          <a:rPr lang="en-US" sz="1800" b="1" i="1">
                            <a:latin typeface="Cambria Math" panose="02040503050406030204" pitchFamily="18" charset="0"/>
                          </a:rPr>
                          <m:t>𝐎𝐛𝐬𝐞𝐫𝐯𝐞𝐝</m:t>
                        </m:r>
                        <m:r>
                          <a:rPr lang="en-US" sz="1800" b="1">
                            <a:latin typeface="Cambria Math" panose="02040503050406030204" pitchFamily="18" charset="0"/>
                          </a:rPr>
                          <m:t> </m:t>
                        </m:r>
                        <m:r>
                          <a:rPr lang="en-US" sz="1800" b="1" i="1">
                            <a:latin typeface="Cambria Math" panose="02040503050406030204" pitchFamily="18" charset="0"/>
                          </a:rPr>
                          <m:t>𝐅𝐫𝐞𝐪𝐮𝐞𝐧𝐜𝐲</m:t>
                        </m:r>
                        <m:r>
                          <a:rPr lang="en-US" sz="1800" b="1">
                            <a:latin typeface="Cambria Math" panose="02040503050406030204" pitchFamily="18" charset="0"/>
                          </a:rPr>
                          <m:t> </m:t>
                        </m:r>
                        <m:r>
                          <a:rPr lang="en-US" sz="1800" b="1" i="1">
                            <a:latin typeface="Cambria Math" panose="02040503050406030204" pitchFamily="18" charset="0"/>
                          </a:rPr>
                          <m:t>−</m:t>
                        </m:r>
                        <m:r>
                          <a:rPr lang="en-US" sz="1800" b="1">
                            <a:latin typeface="Cambria Math" panose="02040503050406030204" pitchFamily="18" charset="0"/>
                          </a:rPr>
                          <m:t> </m:t>
                        </m:r>
                        <m:r>
                          <a:rPr lang="en-US" sz="1800" b="1" i="1">
                            <a:latin typeface="Cambria Math" panose="02040503050406030204" pitchFamily="18" charset="0"/>
                          </a:rPr>
                          <m:t>𝐄𝐱𝐩𝐞𝐜𝐭𝐞𝐝</m:t>
                        </m:r>
                        <m:r>
                          <a:rPr lang="en-US" sz="1800" b="1">
                            <a:latin typeface="Cambria Math" panose="02040503050406030204" pitchFamily="18" charset="0"/>
                          </a:rPr>
                          <m:t> </m:t>
                        </m:r>
                        <m:r>
                          <a:rPr lang="en-US" sz="1800" b="1" i="1">
                            <a:latin typeface="Cambria Math" panose="02040503050406030204" pitchFamily="18" charset="0"/>
                          </a:rPr>
                          <m:t>𝐅𝐫𝐞𝐪𝐮𝐞𝐧𝐜𝐲</m:t>
                        </m:r>
                        <m:r>
                          <a:rPr lang="en-US" sz="1800" b="1">
                            <a:latin typeface="Cambria Math" panose="02040503050406030204" pitchFamily="18" charset="0"/>
                          </a:rPr>
                          <m:t>) ^</m:t>
                        </m:r>
                        <m:r>
                          <a:rPr lang="en-US" sz="1800" b="1" i="1">
                            <a:latin typeface="Cambria Math" panose="02040503050406030204" pitchFamily="18" charset="0"/>
                          </a:rPr>
                          <m:t>𝟐</m:t>
                        </m:r>
                        <m:r>
                          <a:rPr lang="en-US" sz="1800" b="1">
                            <a:latin typeface="Cambria Math" panose="02040503050406030204" pitchFamily="18" charset="0"/>
                          </a:rPr>
                          <m:t> </m:t>
                        </m:r>
                      </m:num>
                      <m:den>
                        <m:r>
                          <a:rPr lang="en-US" sz="1800" b="1" i="1">
                            <a:latin typeface="Cambria Math" panose="02040503050406030204" pitchFamily="18" charset="0"/>
                          </a:rPr>
                          <m:t>𝑬𝒙𝒑𝒆𝒄𝒕𝒆𝒅</m:t>
                        </m:r>
                        <m:r>
                          <a:rPr lang="en-US" sz="1800" b="1" i="1">
                            <a:latin typeface="Cambria Math" panose="02040503050406030204" pitchFamily="18" charset="0"/>
                          </a:rPr>
                          <m:t> </m:t>
                        </m:r>
                        <m:r>
                          <a:rPr lang="en-US" sz="1800" b="1" i="1">
                            <a:latin typeface="Cambria Math" panose="02040503050406030204" pitchFamily="18" charset="0"/>
                          </a:rPr>
                          <m:t>𝑭𝒓𝒆𝒒𝒖𝒆𝒏𝒄𝒚</m:t>
                        </m:r>
                      </m:den>
                    </m:f>
                  </m:oMath>
                </a14:m>
                <a:endParaRPr lang="en-US" sz="1800" dirty="0"/>
              </a:p>
              <a:p>
                <a:pPr lvl="0" eaLnBrk="0" fontAlgn="base" hangingPunct="0">
                  <a:lnSpc>
                    <a:spcPct val="100000"/>
                  </a:lnSpc>
                  <a:spcBef>
                    <a:spcPct val="0"/>
                  </a:spcBef>
                  <a:spcAft>
                    <a:spcPct val="0"/>
                  </a:spcAft>
                  <a:tabLst>
                    <a:tab pos="2971800" algn="ctr"/>
                  </a:tabLst>
                </a:pPr>
                <a:endParaRPr lang="en-US" altLang="en-US" sz="2100" b="1" dirty="0">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tabLst>
                    <a:tab pos="2971800" algn="ctr"/>
                  </a:tabLst>
                </a:pPr>
                <a:r>
                  <a:rPr lang="en-US" altLang="en-US" sz="2100" dirty="0">
                    <a:latin typeface="Calibri" panose="020F0502020204030204" pitchFamily="34" charset="0"/>
                    <a:ea typeface="Calibri" panose="020F0502020204030204" pitchFamily="34" charset="0"/>
                    <a:cs typeface="Times New Roman" panose="02020603050405020304" pitchFamily="18" charset="0"/>
                  </a:rPr>
                  <a:t>The value of </a:t>
                </a:r>
                <a:r>
                  <a:rPr lang="en-US" sz="2400" b="1" dirty="0"/>
                  <a:t>χ</a:t>
                </a:r>
                <a:r>
                  <a:rPr lang="en-US" sz="2400" b="1" baseline="30000" dirty="0"/>
                  <a:t>2</a:t>
                </a:r>
                <a:r>
                  <a:rPr lang="en-US" altLang="en-US" sz="2100" b="1" dirty="0" bmk="">
                    <a:latin typeface="Calibri" panose="020F0502020204030204" pitchFamily="34" charset="0"/>
                    <a:ea typeface="Calibri" panose="020F0502020204030204" pitchFamily="34" charset="0"/>
                    <a:cs typeface="Times New Roman" panose="02020603050405020304" pitchFamily="18" charset="0"/>
                  </a:rPr>
                  <a:t> calculated = </a:t>
                </a:r>
                <a:r>
                  <a:rPr lang="en-US" altLang="en-US" sz="2100" b="1" dirty="0" bmk="_Hlk216612843">
                    <a:solidFill>
                      <a:srgbClr val="000000"/>
                    </a:solidFill>
                    <a:latin typeface="Calibri" panose="020F0502020204030204" pitchFamily="34" charset="0"/>
                    <a:ea typeface="Times New Roman" panose="02020603050405020304" pitchFamily="18" charset="0"/>
                    <a:cs typeface="Calibri" panose="020F0502020204030204" pitchFamily="34" charset="0"/>
                  </a:rPr>
                  <a:t>209268449.2</a:t>
                </a:r>
              </a:p>
              <a:p>
                <a:pPr lvl="0" eaLnBrk="0" fontAlgn="base" hangingPunct="0">
                  <a:lnSpc>
                    <a:spcPct val="100000"/>
                  </a:lnSpc>
                  <a:spcBef>
                    <a:spcPct val="0"/>
                  </a:spcBef>
                  <a:spcAft>
                    <a:spcPct val="0"/>
                  </a:spcAft>
                  <a:tabLst>
                    <a:tab pos="2971800" algn="ctr"/>
                  </a:tabLst>
                </a:pPr>
                <a:endParaRPr lang="en-US" altLang="en-US" sz="2100" dirty="0" bmk="_Hlk216612843"/>
              </a:p>
              <a:p>
                <a:pPr lvl="0" eaLnBrk="0" fontAlgn="base" hangingPunct="0">
                  <a:lnSpc>
                    <a:spcPct val="100000"/>
                  </a:lnSpc>
                  <a:spcBef>
                    <a:spcPct val="0"/>
                  </a:spcBef>
                  <a:spcAft>
                    <a:spcPct val="0"/>
                  </a:spcAft>
                  <a:tabLst>
                    <a:tab pos="2971800" algn="ctr"/>
                  </a:tabLst>
                </a:pPr>
                <a:r>
                  <a:rPr lang="en-US" altLang="en-US" sz="2100" dirty="0" bmk="_Hlk216612843">
                    <a:latin typeface="Calibri" panose="020F0502020204030204" pitchFamily="34" charset="0"/>
                    <a:ea typeface="Calibri" panose="020F0502020204030204" pitchFamily="34" charset="0"/>
                    <a:cs typeface="Times New Roman" panose="02020603050405020304" pitchFamily="18" charset="0"/>
                  </a:rPr>
                  <a:t>Using the chi square table, we get</a:t>
                </a:r>
                <a:endParaRPr lang="en-US" altLang="en-US" sz="2100" dirty="0" bmk="_Hlk216612843"/>
              </a:p>
              <a:p>
                <a:pPr lvl="0" eaLnBrk="0" fontAlgn="base" hangingPunct="0">
                  <a:lnSpc>
                    <a:spcPct val="100000"/>
                  </a:lnSpc>
                  <a:spcBef>
                    <a:spcPct val="0"/>
                  </a:spcBef>
                  <a:spcAft>
                    <a:spcPct val="0"/>
                  </a:spcAft>
                  <a:tabLst>
                    <a:tab pos="2971800" algn="ctr"/>
                  </a:tabLst>
                </a:pPr>
                <a:r>
                  <a:rPr lang="en-US" sz="2400" b="1" dirty="0"/>
                  <a:t>χ</a:t>
                </a:r>
                <a:r>
                  <a:rPr lang="en-US" sz="2400" b="1" baseline="30000" dirty="0"/>
                  <a:t>2</a:t>
                </a:r>
                <a:r>
                  <a:rPr lang="en-US" altLang="en-US" sz="2100" b="1" baseline="30000" dirty="0" bmk="_Hlk216612843">
                    <a:latin typeface="Calibri" panose="020F0502020204030204" pitchFamily="34" charset="0"/>
                    <a:ea typeface="Calibri" panose="020F0502020204030204" pitchFamily="34" charset="0"/>
                    <a:cs typeface="Times New Roman" panose="02020603050405020304" pitchFamily="18" charset="0"/>
                  </a:rPr>
                  <a:t> </a:t>
                </a:r>
                <a:r>
                  <a:rPr lang="en-US" altLang="en-US" sz="2100" b="1" dirty="0" bmk="_Hlk216612843">
                    <a:latin typeface="Calibri" panose="020F0502020204030204" pitchFamily="34" charset="0"/>
                    <a:ea typeface="Calibri" panose="020F0502020204030204" pitchFamily="34" charset="0"/>
                    <a:cs typeface="Times New Roman" panose="02020603050405020304" pitchFamily="18" charset="0"/>
                  </a:rPr>
                  <a:t>tabulated = </a:t>
                </a:r>
                <a:r>
                  <a:rPr lang="en-US" altLang="en-US" sz="2100" b="1" dirty="0" bmk="_Hlk216612843">
                    <a:solidFill>
                      <a:srgbClr val="000000"/>
                    </a:solidFill>
                    <a:latin typeface="Calibri" panose="020F0502020204030204" pitchFamily="34" charset="0"/>
                    <a:ea typeface="Times New Roman" panose="02020603050405020304" pitchFamily="18" charset="0"/>
                    <a:cs typeface="Calibri" panose="020F0502020204030204" pitchFamily="34" charset="0"/>
                  </a:rPr>
                  <a:t>11.07</a:t>
                </a:r>
              </a:p>
              <a:p>
                <a:pPr lvl="0" eaLnBrk="0" fontAlgn="base" hangingPunct="0">
                  <a:lnSpc>
                    <a:spcPct val="100000"/>
                  </a:lnSpc>
                  <a:spcBef>
                    <a:spcPct val="0"/>
                  </a:spcBef>
                  <a:spcAft>
                    <a:spcPct val="0"/>
                  </a:spcAft>
                  <a:tabLst>
                    <a:tab pos="2971800" algn="ctr"/>
                  </a:tabLst>
                </a:pPr>
                <a:endParaRPr lang="en-US" altLang="en-US" sz="2100" dirty="0"/>
              </a:p>
              <a:p>
                <a:pPr lvl="0" eaLnBrk="0" fontAlgn="base" hangingPunct="0">
                  <a:lnSpc>
                    <a:spcPct val="100000"/>
                  </a:lnSpc>
                  <a:spcBef>
                    <a:spcPct val="0"/>
                  </a:spcBef>
                  <a:spcAft>
                    <a:spcPct val="0"/>
                  </a:spcAft>
                  <a:tabLst>
                    <a:tab pos="2971800" algn="ctr"/>
                  </a:tabLst>
                </a:pPr>
                <a:r>
                  <a:rPr lang="en-US" altLang="en-US" sz="21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Conclusion:</a:t>
                </a:r>
                <a:endParaRPr lang="en-US" altLang="en-US" sz="2100" dirty="0"/>
              </a:p>
              <a:p>
                <a:pPr lvl="0" eaLnBrk="0" fontAlgn="base" hangingPunct="0">
                  <a:lnSpc>
                    <a:spcPct val="100000"/>
                  </a:lnSpc>
                  <a:spcBef>
                    <a:spcPct val="0"/>
                  </a:spcBef>
                  <a:spcAft>
                    <a:spcPct val="0"/>
                  </a:spcAft>
                  <a:tabLst>
                    <a:tab pos="2971800" algn="ctr"/>
                  </a:tabLst>
                </a:pPr>
                <a:r>
                  <a:rPr lang="en-US" altLang="en-US" sz="2100" dirty="0">
                    <a:solidFill>
                      <a:srgbClr val="000000"/>
                    </a:solidFill>
                    <a:latin typeface="Calibri" panose="020F0502020204030204" pitchFamily="34" charset="0"/>
                    <a:ea typeface="Times New Roman" panose="02020603050405020304" pitchFamily="18" charset="0"/>
                    <a:cs typeface="Calibri" panose="020F0502020204030204" pitchFamily="34" charset="0"/>
                  </a:rPr>
                  <a:t>Since </a:t>
                </a:r>
                <a:r>
                  <a:rPr lang="en-US" altLang="en-US" sz="2100" dirty="0">
                    <a:latin typeface="Calibri" panose="020F0502020204030204" pitchFamily="34" charset="0"/>
                    <a:ea typeface="Calibri" panose="020F0502020204030204" pitchFamily="34" charset="0"/>
                    <a:cs typeface="Times New Roman" panose="02020603050405020304" pitchFamily="18" charset="0"/>
                  </a:rPr>
                  <a:t>χ</a:t>
                </a:r>
                <a:r>
                  <a:rPr lang="en-US" altLang="en-US" sz="2100" baseline="30000" dirty="0">
                    <a:latin typeface="Calibri" panose="020F0502020204030204" pitchFamily="34" charset="0"/>
                    <a:ea typeface="Calibri" panose="020F0502020204030204" pitchFamily="34" charset="0"/>
                    <a:cs typeface="Times New Roman" panose="02020603050405020304" pitchFamily="18" charset="0"/>
                  </a:rPr>
                  <a:t>2</a:t>
                </a:r>
                <a:r>
                  <a:rPr lang="en-US" altLang="en-US" sz="2100" dirty="0">
                    <a:latin typeface="Calibri" panose="020F0502020204030204" pitchFamily="34" charset="0"/>
                    <a:ea typeface="Calibri" panose="020F0502020204030204" pitchFamily="34" charset="0"/>
                    <a:cs typeface="Times New Roman" panose="02020603050405020304" pitchFamily="18" charset="0"/>
                  </a:rPr>
                  <a:t>tabulated</a:t>
                </a:r>
                <a:r>
                  <a:rPr lang="en-US" altLang="en-US" sz="21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is less than </a:t>
                </a:r>
                <a:r>
                  <a:rPr lang="en-US" altLang="en-US" sz="2100" dirty="0">
                    <a:latin typeface="Calibri" panose="020F0502020204030204" pitchFamily="34" charset="0"/>
                    <a:ea typeface="Calibri" panose="020F0502020204030204" pitchFamily="34" charset="0"/>
                    <a:cs typeface="Times New Roman" panose="02020603050405020304" pitchFamily="18" charset="0"/>
                  </a:rPr>
                  <a:t>Χ</a:t>
                </a:r>
                <a:r>
                  <a:rPr lang="en-US" altLang="en-US" sz="2100" baseline="30000" dirty="0">
                    <a:latin typeface="Calibri" panose="020F0502020204030204" pitchFamily="34" charset="0"/>
                    <a:ea typeface="Calibri" panose="020F0502020204030204" pitchFamily="34" charset="0"/>
                    <a:cs typeface="Times New Roman" panose="02020603050405020304" pitchFamily="18" charset="0"/>
                  </a:rPr>
                  <a:t>2</a:t>
                </a:r>
                <a:r>
                  <a:rPr lang="en-US" altLang="en-US" sz="2100" dirty="0">
                    <a:latin typeface="Calibri" panose="020F0502020204030204" pitchFamily="34" charset="0"/>
                    <a:ea typeface="Calibri" panose="020F0502020204030204" pitchFamily="34" charset="0"/>
                    <a:cs typeface="Times New Roman" panose="02020603050405020304" pitchFamily="18" charset="0"/>
                  </a:rPr>
                  <a:t> calculated that is </a:t>
                </a:r>
                <a:r>
                  <a:rPr lang="en-US" altLang="en-US" sz="2100" dirty="0">
                    <a:solidFill>
                      <a:srgbClr val="000000"/>
                    </a:solidFill>
                    <a:latin typeface="Calibri" panose="020F0502020204030204" pitchFamily="34" charset="0"/>
                    <a:ea typeface="Times New Roman" panose="02020603050405020304" pitchFamily="18" charset="0"/>
                    <a:cs typeface="Calibri" panose="020F0502020204030204" pitchFamily="34" charset="0"/>
                  </a:rPr>
                  <a:t>11.07 &lt; 209268449.2. Thus, we reject the null hypothesis (</a:t>
                </a:r>
                <a:r>
                  <a:rPr lang="en-US" sz="2100" dirty="0"/>
                  <a:t>H</a:t>
                </a:r>
                <a:r>
                  <a:rPr lang="en-US" sz="2100" baseline="-25000" dirty="0"/>
                  <a:t>0</a:t>
                </a:r>
                <a:r>
                  <a:rPr lang="en-US" altLang="en-US" sz="21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Hence, </a:t>
                </a:r>
                <a:r>
                  <a:rPr lang="en-US" altLang="en-US" sz="2100" dirty="0">
                    <a:latin typeface="Calibri" panose="020F0502020204030204" pitchFamily="34" charset="0"/>
                    <a:ea typeface="Calibri" panose="020F0502020204030204" pitchFamily="34" charset="0"/>
                    <a:cs typeface="Times New Roman" panose="02020603050405020304" pitchFamily="18" charset="0"/>
                  </a:rPr>
                  <a:t>Cancer cases are not equally distributed across all zones</a:t>
                </a:r>
                <a:endParaRPr lang="en-US" altLang="en-US" sz="2100" dirty="0">
                  <a:latin typeface="Arial" panose="020B0604020202020204" pitchFamily="34" charset="0"/>
                </a:endParaRPr>
              </a:p>
              <a:p>
                <a:pPr lvl="0" indent="457200" eaLnBrk="0" fontAlgn="base" hangingPunct="0">
                  <a:lnSpc>
                    <a:spcPct val="100000"/>
                  </a:lnSpc>
                  <a:spcBef>
                    <a:spcPct val="0"/>
                  </a:spcBef>
                  <a:spcAft>
                    <a:spcPct val="0"/>
                  </a:spcAft>
                  <a:tabLst>
                    <a:tab pos="822325" algn="l"/>
                  </a:tabLst>
                </a:pPr>
                <a:endParaRPr lang="en-US" altLang="en-US" sz="1700" dirty="0"/>
              </a:p>
              <a:p>
                <a:pPr lvl="0" indent="457200" eaLnBrk="0" fontAlgn="base" hangingPunct="0">
                  <a:lnSpc>
                    <a:spcPct val="100000"/>
                  </a:lnSpc>
                  <a:spcBef>
                    <a:spcPct val="0"/>
                  </a:spcBef>
                  <a:spcAft>
                    <a:spcPct val="0"/>
                  </a:spcAft>
                  <a:tabLst>
                    <a:tab pos="822325" algn="l"/>
                  </a:tabLst>
                </a:pPr>
                <a:endParaRPr lang="en-US" altLang="en-US" sz="1700" dirty="0">
                  <a:latin typeface="Arial" panose="020B0604020202020204" pitchFamily="34" charset="0"/>
                </a:endParaRPr>
              </a:p>
              <a:p>
                <a:endParaRPr lang="en-US" dirty="0"/>
              </a:p>
            </p:txBody>
          </p:sp>
        </mc:Choice>
        <mc:Fallback xmlns="">
          <p:sp>
            <p:nvSpPr>
              <p:cNvPr id="4" name="Text Placeholder 3">
                <a:extLst>
                  <a:ext uri="{FF2B5EF4-FFF2-40B4-BE49-F238E27FC236}">
                    <a16:creationId xmlns:a16="http://schemas.microsoft.com/office/drawing/2014/main" id="{CA6F88BA-9E01-1DFF-0104-C21F213E0179}"/>
                  </a:ext>
                </a:extLst>
              </p:cNvPr>
              <p:cNvSpPr>
                <a:spLocks noGrp="1" noRot="1" noChangeAspect="1" noMove="1" noResize="1" noEditPoints="1" noAdjustHandles="1" noChangeArrowheads="1" noChangeShapeType="1" noTextEdit="1"/>
              </p:cNvSpPr>
              <p:nvPr>
                <p:ph type="body" sz="half" idx="2"/>
              </p:nvPr>
            </p:nvSpPr>
            <p:spPr>
              <a:xfrm>
                <a:off x="976132" y="1326437"/>
                <a:ext cx="3932237" cy="5155386"/>
              </a:xfrm>
              <a:blipFill>
                <a:blip r:embed="rId2"/>
                <a:stretch>
                  <a:fillRect l="-1395" r="-930"/>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C1231424-3876-6FAD-363E-2203D7B577BF}"/>
              </a:ext>
            </a:extLst>
          </p:cNvPr>
          <p:cNvGraphicFramePr>
            <a:graphicFrameLocks noGrp="1"/>
          </p:cNvGraphicFramePr>
          <p:nvPr>
            <p:extLst>
              <p:ext uri="{D42A27DB-BD31-4B8C-83A1-F6EECF244321}">
                <p14:modId xmlns:p14="http://schemas.microsoft.com/office/powerpoint/2010/main" val="3671018939"/>
              </p:ext>
            </p:extLst>
          </p:nvPr>
        </p:nvGraphicFramePr>
        <p:xfrm>
          <a:off x="6494643" y="479424"/>
          <a:ext cx="4721225" cy="2244090"/>
        </p:xfrm>
        <a:graphic>
          <a:graphicData uri="http://schemas.openxmlformats.org/drawingml/2006/table">
            <a:tbl>
              <a:tblPr firstRow="1" firstCol="1" bandRow="1">
                <a:tableStyleId>{5C22544A-7EE6-4342-B048-85BDC9FD1C3A}</a:tableStyleId>
              </a:tblPr>
              <a:tblGrid>
                <a:gridCol w="2484120">
                  <a:extLst>
                    <a:ext uri="{9D8B030D-6E8A-4147-A177-3AD203B41FA5}">
                      <a16:colId xmlns:a16="http://schemas.microsoft.com/office/drawing/2014/main" val="4054893957"/>
                    </a:ext>
                  </a:extLst>
                </a:gridCol>
                <a:gridCol w="2237105">
                  <a:extLst>
                    <a:ext uri="{9D8B030D-6E8A-4147-A177-3AD203B41FA5}">
                      <a16:colId xmlns:a16="http://schemas.microsoft.com/office/drawing/2014/main" val="4095656891"/>
                    </a:ext>
                  </a:extLst>
                </a:gridCol>
              </a:tblGrid>
              <a:tr h="374015">
                <a:tc>
                  <a:txBody>
                    <a:bodyPr/>
                    <a:lstStyle/>
                    <a:p>
                      <a:pPr marL="0" marR="0" algn="ctr">
                        <a:lnSpc>
                          <a:spcPct val="115000"/>
                        </a:lnSpc>
                        <a:spcAft>
                          <a:spcPts val="800"/>
                        </a:spcAft>
                        <a:buNone/>
                      </a:pPr>
                      <a:r>
                        <a:rPr lang="en-US" sz="1800" kern="0">
                          <a:effectLst/>
                        </a:rPr>
                        <a:t>Zones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800" kern="0">
                          <a:effectLst/>
                        </a:rPr>
                        <a:t>Total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01153859"/>
                  </a:ext>
                </a:extLst>
              </a:tr>
              <a:tr h="374015">
                <a:tc>
                  <a:txBody>
                    <a:bodyPr/>
                    <a:lstStyle/>
                    <a:p>
                      <a:pPr marL="0" marR="0" algn="ctr">
                        <a:lnSpc>
                          <a:spcPct val="115000"/>
                        </a:lnSpc>
                        <a:spcAft>
                          <a:spcPts val="800"/>
                        </a:spcAft>
                        <a:buNone/>
                      </a:pPr>
                      <a:r>
                        <a:rPr lang="en-US" sz="1400" kern="0">
                          <a:effectLst/>
                        </a:rPr>
                        <a:t>Central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41254260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698426322"/>
                  </a:ext>
                </a:extLst>
              </a:tr>
              <a:tr h="374015">
                <a:tc>
                  <a:txBody>
                    <a:bodyPr/>
                    <a:lstStyle/>
                    <a:p>
                      <a:pPr marL="0" marR="0" algn="ctr">
                        <a:lnSpc>
                          <a:spcPct val="115000"/>
                        </a:lnSpc>
                        <a:spcAft>
                          <a:spcPts val="800"/>
                        </a:spcAft>
                        <a:buNone/>
                      </a:pPr>
                      <a:r>
                        <a:rPr lang="en-US" sz="1400" kern="0">
                          <a:effectLst/>
                        </a:rPr>
                        <a:t>East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89541595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886476649"/>
                  </a:ext>
                </a:extLst>
              </a:tr>
              <a:tr h="374015">
                <a:tc>
                  <a:txBody>
                    <a:bodyPr/>
                    <a:lstStyle/>
                    <a:p>
                      <a:pPr marL="0" marR="0" algn="ctr">
                        <a:lnSpc>
                          <a:spcPct val="115000"/>
                        </a:lnSpc>
                        <a:spcAft>
                          <a:spcPts val="800"/>
                        </a:spcAft>
                        <a:buNone/>
                      </a:pPr>
                      <a:r>
                        <a:rPr lang="en-US" sz="1400" kern="0">
                          <a:effectLst/>
                        </a:rPr>
                        <a:t>North East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54540323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54508679"/>
                  </a:ext>
                </a:extLst>
              </a:tr>
              <a:tr h="374015">
                <a:tc>
                  <a:txBody>
                    <a:bodyPr/>
                    <a:lstStyle/>
                    <a:p>
                      <a:pPr marL="0" marR="0" algn="ctr">
                        <a:lnSpc>
                          <a:spcPct val="115000"/>
                        </a:lnSpc>
                        <a:spcAft>
                          <a:spcPts val="800"/>
                        </a:spcAft>
                        <a:buNone/>
                      </a:pPr>
                      <a:r>
                        <a:rPr lang="en-US" sz="1400" kern="0" dirty="0">
                          <a:effectLst/>
                        </a:rPr>
                        <a:t>North Zone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157220197.5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98164614"/>
                  </a:ext>
                </a:extLst>
              </a:tr>
              <a:tr h="374015">
                <a:tc>
                  <a:txBody>
                    <a:bodyPr/>
                    <a:lstStyle/>
                    <a:p>
                      <a:pPr marL="0" marR="0" algn="ctr">
                        <a:lnSpc>
                          <a:spcPct val="115000"/>
                        </a:lnSpc>
                        <a:spcAft>
                          <a:spcPts val="800"/>
                        </a:spcAft>
                        <a:buNone/>
                      </a:pPr>
                      <a:r>
                        <a:rPr lang="en-US" sz="1400" kern="0">
                          <a:effectLst/>
                        </a:rPr>
                        <a:t>South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dirty="0">
                          <a:effectLst/>
                        </a:rPr>
                        <a:t>103419406.7</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60413129"/>
                  </a:ext>
                </a:extLst>
              </a:tr>
            </a:tbl>
          </a:graphicData>
        </a:graphic>
      </p:graphicFrame>
      <p:graphicFrame>
        <p:nvGraphicFramePr>
          <p:cNvPr id="6" name="Table 5">
            <a:extLst>
              <a:ext uri="{FF2B5EF4-FFF2-40B4-BE49-F238E27FC236}">
                <a16:creationId xmlns:a16="http://schemas.microsoft.com/office/drawing/2014/main" id="{2E2C0792-2A0A-48B0-6AFD-367D73D0B2A7}"/>
              </a:ext>
            </a:extLst>
          </p:cNvPr>
          <p:cNvGraphicFramePr>
            <a:graphicFrameLocks noGrp="1"/>
          </p:cNvGraphicFramePr>
          <p:nvPr>
            <p:extLst>
              <p:ext uri="{D42A27DB-BD31-4B8C-83A1-F6EECF244321}">
                <p14:modId xmlns:p14="http://schemas.microsoft.com/office/powerpoint/2010/main" val="1934652428"/>
              </p:ext>
            </p:extLst>
          </p:nvPr>
        </p:nvGraphicFramePr>
        <p:xfrm>
          <a:off x="6053454" y="3166428"/>
          <a:ext cx="5847715" cy="2702560"/>
        </p:xfrm>
        <a:graphic>
          <a:graphicData uri="http://schemas.openxmlformats.org/drawingml/2006/table">
            <a:tbl>
              <a:tblPr firstRow="1" firstCol="1" bandRow="1">
                <a:tableStyleId>{5C22544A-7EE6-4342-B048-85BDC9FD1C3A}</a:tableStyleId>
              </a:tblPr>
              <a:tblGrid>
                <a:gridCol w="1610995">
                  <a:extLst>
                    <a:ext uri="{9D8B030D-6E8A-4147-A177-3AD203B41FA5}">
                      <a16:colId xmlns:a16="http://schemas.microsoft.com/office/drawing/2014/main" val="3343062581"/>
                    </a:ext>
                  </a:extLst>
                </a:gridCol>
                <a:gridCol w="1450975">
                  <a:extLst>
                    <a:ext uri="{9D8B030D-6E8A-4147-A177-3AD203B41FA5}">
                      <a16:colId xmlns:a16="http://schemas.microsoft.com/office/drawing/2014/main" val="2510914918"/>
                    </a:ext>
                  </a:extLst>
                </a:gridCol>
                <a:gridCol w="1450975">
                  <a:extLst>
                    <a:ext uri="{9D8B030D-6E8A-4147-A177-3AD203B41FA5}">
                      <a16:colId xmlns:a16="http://schemas.microsoft.com/office/drawing/2014/main" val="3371403088"/>
                    </a:ext>
                  </a:extLst>
                </a:gridCol>
                <a:gridCol w="1334770">
                  <a:extLst>
                    <a:ext uri="{9D8B030D-6E8A-4147-A177-3AD203B41FA5}">
                      <a16:colId xmlns:a16="http://schemas.microsoft.com/office/drawing/2014/main" val="511634540"/>
                    </a:ext>
                  </a:extLst>
                </a:gridCol>
              </a:tblGrid>
              <a:tr h="386080">
                <a:tc>
                  <a:txBody>
                    <a:bodyPr/>
                    <a:lstStyle/>
                    <a:p>
                      <a:pPr marL="0" marR="0" algn="ctr">
                        <a:lnSpc>
                          <a:spcPct val="150000"/>
                        </a:lnSpc>
                        <a:spcAft>
                          <a:spcPts val="800"/>
                        </a:spcAft>
                        <a:buNone/>
                      </a:pPr>
                      <a:r>
                        <a:rPr lang="en-US" sz="1800" kern="0">
                          <a:effectLst/>
                        </a:rPr>
                        <a:t>Zones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800" kern="0" dirty="0">
                          <a:effectLst/>
                        </a:rPr>
                        <a:t>Total</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800" kern="0">
                          <a:effectLst/>
                        </a:rPr>
                        <a:t>Expected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800" kern="0">
                          <a:effectLst/>
                        </a:rPr>
                        <a:t>Chi Term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04396525"/>
                  </a:ext>
                </a:extLst>
              </a:tr>
              <a:tr h="386080">
                <a:tc>
                  <a:txBody>
                    <a:bodyPr/>
                    <a:lstStyle/>
                    <a:p>
                      <a:pPr marL="0" marR="0" algn="ctr">
                        <a:lnSpc>
                          <a:spcPct val="115000"/>
                        </a:lnSpc>
                        <a:spcAft>
                          <a:spcPts val="800"/>
                        </a:spcAft>
                        <a:buNone/>
                      </a:pPr>
                      <a:r>
                        <a:rPr lang="en-US" sz="1400" kern="0">
                          <a:effectLst/>
                        </a:rPr>
                        <a:t>Central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41254260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111569937.9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44315652.1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10040027"/>
                  </a:ext>
                </a:extLst>
              </a:tr>
              <a:tr h="386080">
                <a:tc>
                  <a:txBody>
                    <a:bodyPr/>
                    <a:lstStyle/>
                    <a:p>
                      <a:pPr marL="0" marR="0" algn="ctr">
                        <a:lnSpc>
                          <a:spcPct val="115000"/>
                        </a:lnSpc>
                        <a:spcAft>
                          <a:spcPts val="800"/>
                        </a:spcAft>
                        <a:buNone/>
                      </a:pPr>
                      <a:r>
                        <a:rPr lang="en-US" sz="1400" kern="0">
                          <a:effectLst/>
                        </a:rPr>
                        <a:t>East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89541595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111569937.9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4349270.95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80049018"/>
                  </a:ext>
                </a:extLst>
              </a:tr>
              <a:tr h="386080">
                <a:tc>
                  <a:txBody>
                    <a:bodyPr/>
                    <a:lstStyle/>
                    <a:p>
                      <a:pPr marL="0" marR="0" algn="ctr">
                        <a:lnSpc>
                          <a:spcPct val="115000"/>
                        </a:lnSpc>
                        <a:spcAft>
                          <a:spcPts val="800"/>
                        </a:spcAft>
                        <a:buNone/>
                      </a:pPr>
                      <a:r>
                        <a:rPr lang="en-US" sz="1400" kern="0">
                          <a:effectLst/>
                        </a:rPr>
                        <a:t>North East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54540323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111569937.9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29151015.4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71656541"/>
                  </a:ext>
                </a:extLst>
              </a:tr>
              <a:tr h="386080">
                <a:tc>
                  <a:txBody>
                    <a:bodyPr/>
                    <a:lstStyle/>
                    <a:p>
                      <a:pPr marL="0" marR="0" algn="ctr">
                        <a:lnSpc>
                          <a:spcPct val="115000"/>
                        </a:lnSpc>
                        <a:spcAft>
                          <a:spcPts val="800"/>
                        </a:spcAft>
                        <a:buNone/>
                      </a:pPr>
                      <a:r>
                        <a:rPr lang="en-US" sz="1400" kern="0">
                          <a:effectLst/>
                        </a:rPr>
                        <a:t>North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157220197.5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111569937.9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18678384.6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60291079"/>
                  </a:ext>
                </a:extLst>
              </a:tr>
              <a:tr h="386080">
                <a:tc>
                  <a:txBody>
                    <a:bodyPr/>
                    <a:lstStyle/>
                    <a:p>
                      <a:pPr marL="0" marR="0" algn="ctr">
                        <a:lnSpc>
                          <a:spcPct val="115000"/>
                        </a:lnSpc>
                        <a:spcAft>
                          <a:spcPts val="800"/>
                        </a:spcAft>
                        <a:buNone/>
                      </a:pPr>
                      <a:r>
                        <a:rPr lang="en-US" sz="1400" kern="0">
                          <a:effectLst/>
                        </a:rPr>
                        <a:t>South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103419406.7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111569937.9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595421.67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07888578"/>
                  </a:ext>
                </a:extLst>
              </a:tr>
              <a:tr h="386080">
                <a:tc>
                  <a:txBody>
                    <a:bodyPr/>
                    <a:lstStyle/>
                    <a:p>
                      <a:pPr marL="0" marR="0" algn="ctr">
                        <a:lnSpc>
                          <a:spcPct val="115000"/>
                        </a:lnSpc>
                        <a:spcAft>
                          <a:spcPts val="800"/>
                        </a:spcAft>
                        <a:buNone/>
                      </a:pPr>
                      <a:r>
                        <a:rPr lang="en-US" sz="1400" kern="0">
                          <a:effectLst/>
                        </a:rPr>
                        <a:t>West Zone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223443845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a:effectLst/>
                        </a:rPr>
                        <a:t>111569937.9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400" kern="0" dirty="0">
                          <a:effectLst/>
                        </a:rPr>
                        <a:t>112178705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07540819"/>
                  </a:ext>
                </a:extLst>
              </a:tr>
            </a:tbl>
          </a:graphicData>
        </a:graphic>
      </p:graphicFrame>
      <p:sp>
        <p:nvSpPr>
          <p:cNvPr id="7" name="Text Box 4">
            <a:extLst>
              <a:ext uri="{FF2B5EF4-FFF2-40B4-BE49-F238E27FC236}">
                <a16:creationId xmlns:a16="http://schemas.microsoft.com/office/drawing/2014/main" id="{70132791-6303-02B8-4F23-0C0DCD7511A3}"/>
              </a:ext>
            </a:extLst>
          </p:cNvPr>
          <p:cNvSpPr txBox="1">
            <a:spLocks noChangeArrowheads="1"/>
          </p:cNvSpPr>
          <p:nvPr/>
        </p:nvSpPr>
        <p:spPr bwMode="auto">
          <a:xfrm>
            <a:off x="7177490" y="2733772"/>
            <a:ext cx="37941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Table 2.6: Zonal representation of total cancer cases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1">
            <a:extLst>
              <a:ext uri="{FF2B5EF4-FFF2-40B4-BE49-F238E27FC236}">
                <a16:creationId xmlns:a16="http://schemas.microsoft.com/office/drawing/2014/main" id="{516370E4-5DC6-06F6-737D-4B9E76499060}"/>
              </a:ext>
            </a:extLst>
          </p:cNvPr>
          <p:cNvSpPr txBox="1">
            <a:spLocks noChangeArrowheads="1"/>
          </p:cNvSpPr>
          <p:nvPr/>
        </p:nvSpPr>
        <p:spPr bwMode="auto">
          <a:xfrm>
            <a:off x="8075611" y="5868988"/>
            <a:ext cx="1803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Table 2.7: χ</a:t>
            </a:r>
            <a:r>
              <a:rPr kumimoji="0" lang="en-US" altLang="en-US" sz="12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calculation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8991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89EC-3A56-2B6D-D359-35C546ADA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D0234-D9E8-A852-0947-12B7B80A3DF2}"/>
              </a:ext>
            </a:extLst>
          </p:cNvPr>
          <p:cNvSpPr>
            <a:spLocks noGrp="1"/>
          </p:cNvSpPr>
          <p:nvPr>
            <p:ph type="title"/>
          </p:nvPr>
        </p:nvSpPr>
        <p:spPr>
          <a:xfrm>
            <a:off x="805063" y="1000759"/>
            <a:ext cx="5248390" cy="651355"/>
          </a:xfrm>
        </p:spPr>
        <p:txBody>
          <a:bodyPr>
            <a:normAutofit fontScale="90000"/>
          </a:bodyPr>
          <a:lstStyle/>
          <a:p>
            <a:pPr lvl="0" eaLnBrk="0" fontAlgn="base" hangingPunct="0">
              <a:lnSpc>
                <a:spcPct val="100000"/>
              </a:lnSpc>
              <a:spcAft>
                <a:spcPct val="0"/>
              </a:spcAft>
              <a:tabLst>
                <a:tab pos="822325" algn="l"/>
              </a:tabLst>
            </a:pPr>
            <a:r>
              <a:rPr lang="en-US" altLang="en-US" sz="2200" b="1" dirty="0">
                <a:latin typeface="Berlin Sans FB Demi" panose="020E0802020502020306" pitchFamily="34" charset="0"/>
              </a:rPr>
              <a:t>3. </a:t>
            </a:r>
            <a:r>
              <a:rPr lang="en-US" sz="2200" b="1" dirty="0">
                <a:latin typeface="Berlin Sans FB Demi" panose="020E0802020502020306" pitchFamily="34" charset="0"/>
              </a:rPr>
              <a:t>To analyze the age group most at risk of developing cancer</a:t>
            </a:r>
            <a:r>
              <a:rPr lang="en-US" altLang="en-US" sz="2200" b="1" dirty="0">
                <a:latin typeface="Berlin Sans FB Demi" panose="020E0802020502020306" pitchFamily="34" charset="0"/>
              </a:rPr>
              <a:t>.</a:t>
            </a:r>
            <a:br>
              <a:rPr lang="en-US" altLang="en-US" sz="2200" b="1" dirty="0">
                <a:latin typeface="Berlin Sans FB Demi" panose="020E0802020502020306" pitchFamily="34" charset="0"/>
              </a:rPr>
            </a:br>
            <a:br>
              <a:rPr lang="en-US" altLang="en-US" sz="2200" b="1" dirty="0">
                <a:latin typeface="Berlin Sans FB Demi" panose="020E0802020502020306" pitchFamily="34" charset="0"/>
              </a:rPr>
            </a:br>
            <a:endParaRPr lang="en-US" sz="2200" b="1" dirty="0">
              <a:latin typeface="Berlin Sans FB Demi" panose="020E0802020502020306" pitchFamily="34" charset="0"/>
            </a:endParaRP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44F98C5-445B-FB8E-4A71-B08E89C3FF5E}"/>
                  </a:ext>
                </a:extLst>
              </p:cNvPr>
              <p:cNvSpPr>
                <a:spLocks noGrp="1"/>
              </p:cNvSpPr>
              <p:nvPr>
                <p:ph type="body" sz="half" idx="2"/>
              </p:nvPr>
            </p:nvSpPr>
            <p:spPr>
              <a:xfrm>
                <a:off x="976132" y="1326437"/>
                <a:ext cx="3932237" cy="5155386"/>
              </a:xfrm>
            </p:spPr>
            <p:txBody>
              <a:bodyPr>
                <a:normAutofit fontScale="92500" lnSpcReduction="20000"/>
              </a:bodyPr>
              <a:lstStyle/>
              <a:p>
                <a:pPr lvl="0"/>
                <a:r>
                  <a:rPr lang="en-US" b="1" dirty="0"/>
                  <a:t>H</a:t>
                </a:r>
                <a:r>
                  <a:rPr lang="en-US" b="1" baseline="-25000" dirty="0"/>
                  <a:t>0</a:t>
                </a:r>
                <a:r>
                  <a:rPr lang="en-US" b="1" dirty="0"/>
                  <a:t> (Null Hypothesis)</a:t>
                </a:r>
              </a:p>
              <a:p>
                <a:r>
                  <a:rPr lang="en-US" dirty="0"/>
                  <a:t>People of all age group are at the same risk of developing cancer</a:t>
                </a:r>
              </a:p>
              <a:p>
                <a:pPr lvl="0"/>
                <a:r>
                  <a:rPr lang="en-US" b="1" dirty="0"/>
                  <a:t>H</a:t>
                </a:r>
                <a:r>
                  <a:rPr lang="en-US" b="1" baseline="-25000" dirty="0"/>
                  <a:t>1</a:t>
                </a:r>
                <a:r>
                  <a:rPr lang="en-US" b="1" dirty="0"/>
                  <a:t> (Alternative Hypothesis):</a:t>
                </a:r>
              </a:p>
              <a:p>
                <a:r>
                  <a:rPr lang="en-US" dirty="0"/>
                  <a:t>People of all age group are not at the same risk of developing cancer</a:t>
                </a:r>
              </a:p>
              <a:p>
                <a:endParaRPr lang="en-US" dirty="0"/>
              </a:p>
              <a:p>
                <a:r>
                  <a:rPr lang="en-US" dirty="0"/>
                  <a:t>The </a:t>
                </a:r>
                <a:r>
                  <a:rPr lang="en-US" b="1" dirty="0"/>
                  <a:t>χ</a:t>
                </a:r>
                <a:r>
                  <a:rPr lang="en-US" b="1" baseline="30000" dirty="0"/>
                  <a:t>2 </a:t>
                </a:r>
                <a:r>
                  <a:rPr lang="en-US" dirty="0"/>
                  <a:t>term in table 2.8 is calculated using:</a:t>
                </a:r>
              </a:p>
              <a:p>
                <a:r>
                  <a:rPr lang="en-US" b="1" dirty="0"/>
                  <a:t>χ</a:t>
                </a:r>
                <a:r>
                  <a:rPr lang="en-US" b="1" baseline="30000" dirty="0"/>
                  <a:t>2 = </a:t>
                </a:r>
                <a14:m>
                  <m:oMath xmlns:m="http://schemas.openxmlformats.org/officeDocument/2006/math">
                    <m:f>
                      <m:fPr>
                        <m:ctrlPr>
                          <a:rPr lang="en-US" b="1" i="1">
                            <a:latin typeface="Cambria Math" panose="02040503050406030204" pitchFamily="18" charset="0"/>
                          </a:rPr>
                        </m:ctrlPr>
                      </m:fPr>
                      <m:num>
                        <m:r>
                          <a:rPr lang="en-US" b="1" baseline="30000">
                            <a:latin typeface="Cambria Math" panose="02040503050406030204" pitchFamily="18" charset="0"/>
                          </a:rPr>
                          <m:t>(</m:t>
                        </m:r>
                        <m:r>
                          <a:rPr lang="en-US" b="1" i="1">
                            <a:latin typeface="Cambria Math" panose="02040503050406030204" pitchFamily="18" charset="0"/>
                          </a:rPr>
                          <m:t>𝐎𝐛𝐬𝐞𝐫𝐯𝐞𝐝</m:t>
                        </m:r>
                        <m:r>
                          <a:rPr lang="en-US" b="1">
                            <a:latin typeface="Cambria Math" panose="02040503050406030204" pitchFamily="18" charset="0"/>
                          </a:rPr>
                          <m:t> </m:t>
                        </m:r>
                        <m:r>
                          <a:rPr lang="en-US" b="1" i="1">
                            <a:latin typeface="Cambria Math" panose="02040503050406030204" pitchFamily="18" charset="0"/>
                          </a:rPr>
                          <m:t>𝐅𝐫𝐞𝐪𝐮𝐞𝐧𝐜𝐲</m:t>
                        </m:r>
                        <m:r>
                          <a:rPr lang="en-US" b="1">
                            <a:latin typeface="Cambria Math" panose="02040503050406030204" pitchFamily="18" charset="0"/>
                          </a:rPr>
                          <m:t> </m:t>
                        </m:r>
                        <m:r>
                          <a:rPr lang="en-US" b="1" i="1">
                            <a:latin typeface="Cambria Math" panose="02040503050406030204" pitchFamily="18" charset="0"/>
                          </a:rPr>
                          <m:t>−</m:t>
                        </m:r>
                        <m:r>
                          <a:rPr lang="en-US" b="1">
                            <a:latin typeface="Cambria Math" panose="02040503050406030204" pitchFamily="18" charset="0"/>
                          </a:rPr>
                          <m:t> </m:t>
                        </m:r>
                        <m:r>
                          <a:rPr lang="en-US" b="1" i="1">
                            <a:latin typeface="Cambria Math" panose="02040503050406030204" pitchFamily="18" charset="0"/>
                          </a:rPr>
                          <m:t>𝐄𝐱𝐩𝐞𝐜𝐭𝐞𝐝</m:t>
                        </m:r>
                        <m:r>
                          <a:rPr lang="en-US" b="1">
                            <a:latin typeface="Cambria Math" panose="02040503050406030204" pitchFamily="18" charset="0"/>
                          </a:rPr>
                          <m:t> </m:t>
                        </m:r>
                        <m:r>
                          <a:rPr lang="en-US" b="1" i="1">
                            <a:latin typeface="Cambria Math" panose="02040503050406030204" pitchFamily="18" charset="0"/>
                          </a:rPr>
                          <m:t>𝐅𝐫𝐞𝐪𝐮𝐞𝐧𝐜𝐲</m:t>
                        </m:r>
                        <m:r>
                          <a:rPr lang="en-US" b="1">
                            <a:latin typeface="Cambria Math" panose="02040503050406030204" pitchFamily="18" charset="0"/>
                          </a:rPr>
                          <m:t>) ^</m:t>
                        </m:r>
                        <m:r>
                          <a:rPr lang="en-US" b="1" i="1">
                            <a:latin typeface="Cambria Math" panose="02040503050406030204" pitchFamily="18" charset="0"/>
                          </a:rPr>
                          <m:t>𝟐</m:t>
                        </m:r>
                        <m:r>
                          <a:rPr lang="en-US" b="1">
                            <a:latin typeface="Cambria Math" panose="02040503050406030204" pitchFamily="18" charset="0"/>
                          </a:rPr>
                          <m:t> </m:t>
                        </m:r>
                      </m:num>
                      <m:den>
                        <m:r>
                          <a:rPr lang="en-US" b="1" i="1">
                            <a:latin typeface="Cambria Math" panose="02040503050406030204" pitchFamily="18" charset="0"/>
                          </a:rPr>
                          <m:t>𝑬𝒙𝒑𝒆𝒄𝒕𝒆𝒅</m:t>
                        </m:r>
                        <m:r>
                          <a:rPr lang="en-US" b="1" i="1">
                            <a:latin typeface="Cambria Math" panose="02040503050406030204" pitchFamily="18" charset="0"/>
                          </a:rPr>
                          <m:t> </m:t>
                        </m:r>
                        <m:r>
                          <a:rPr lang="en-US" b="1" i="1">
                            <a:latin typeface="Cambria Math" panose="02040503050406030204" pitchFamily="18" charset="0"/>
                          </a:rPr>
                          <m:t>𝑭𝒓𝒆𝒒𝒖𝒆𝒏𝒄𝒚</m:t>
                        </m:r>
                      </m:den>
                    </m:f>
                  </m:oMath>
                </a14:m>
                <a:endParaRPr lang="en-US" dirty="0"/>
              </a:p>
              <a:p>
                <a:r>
                  <a:rPr lang="en-US" b="1" dirty="0"/>
                  <a:t> </a:t>
                </a:r>
                <a:endParaRPr lang="en-US" dirty="0"/>
              </a:p>
              <a:p>
                <a:r>
                  <a:rPr lang="en-US" b="1" dirty="0"/>
                  <a:t>Χ</a:t>
                </a:r>
                <a:r>
                  <a:rPr lang="en-US" b="1" baseline="30000" dirty="0"/>
                  <a:t>2</a:t>
                </a:r>
                <a:r>
                  <a:rPr lang="en-US" b="1" dirty="0"/>
                  <a:t> calculated = 65337669.4</a:t>
                </a:r>
                <a:endParaRPr lang="en-US" dirty="0"/>
              </a:p>
              <a:p>
                <a:r>
                  <a:rPr lang="en-US" dirty="0"/>
                  <a:t>Using the chi square table, we get</a:t>
                </a:r>
              </a:p>
              <a:p>
                <a:r>
                  <a:rPr lang="en-US" b="1" dirty="0"/>
                  <a:t>χ</a:t>
                </a:r>
                <a:r>
                  <a:rPr lang="en-US" b="1" baseline="30000" dirty="0"/>
                  <a:t>2</a:t>
                </a:r>
                <a:r>
                  <a:rPr lang="en-US" b="1" dirty="0"/>
                  <a:t>tabulated= 11.07</a:t>
                </a:r>
                <a:endParaRPr lang="en-US" dirty="0"/>
              </a:p>
              <a:p>
                <a:r>
                  <a:rPr lang="en-US" dirty="0"/>
                  <a:t> </a:t>
                </a:r>
              </a:p>
              <a:p>
                <a:r>
                  <a:rPr lang="en-US" b="1" dirty="0"/>
                  <a:t>Conclusion:</a:t>
                </a:r>
                <a:endParaRPr lang="en-US" dirty="0"/>
              </a:p>
              <a:p>
                <a:r>
                  <a:rPr lang="en-US" dirty="0"/>
                  <a:t>Since χ</a:t>
                </a:r>
                <a:r>
                  <a:rPr lang="en-US" baseline="30000" dirty="0"/>
                  <a:t>2</a:t>
                </a:r>
                <a:r>
                  <a:rPr lang="en-US" dirty="0"/>
                  <a:t>tabulated is less than Χ</a:t>
                </a:r>
                <a:r>
                  <a:rPr lang="en-US" baseline="30000" dirty="0"/>
                  <a:t>2</a:t>
                </a:r>
                <a:r>
                  <a:rPr lang="en-US" dirty="0"/>
                  <a:t> calculated that is 11.07 &lt; 65337669.4. Thus, we reject the null hypothesis (H</a:t>
                </a:r>
                <a:r>
                  <a:rPr lang="en-US" baseline="-25000" dirty="0"/>
                  <a:t>0</a:t>
                </a:r>
                <a:r>
                  <a:rPr lang="en-US" dirty="0"/>
                  <a:t>). Hence, People of all age group are not at the same risk of developing cancer.</a:t>
                </a:r>
              </a:p>
              <a:p>
                <a:pPr lvl="0" indent="457200" eaLnBrk="0" fontAlgn="base" hangingPunct="0">
                  <a:lnSpc>
                    <a:spcPct val="100000"/>
                  </a:lnSpc>
                  <a:spcBef>
                    <a:spcPct val="0"/>
                  </a:spcBef>
                  <a:spcAft>
                    <a:spcPct val="0"/>
                  </a:spcAft>
                  <a:tabLst>
                    <a:tab pos="822325" algn="l"/>
                  </a:tabLst>
                </a:pPr>
                <a:endParaRPr lang="en-US" altLang="en-US" sz="1700" dirty="0"/>
              </a:p>
              <a:p>
                <a:pPr lvl="0" indent="457200" eaLnBrk="0" fontAlgn="base" hangingPunct="0">
                  <a:lnSpc>
                    <a:spcPct val="100000"/>
                  </a:lnSpc>
                  <a:spcBef>
                    <a:spcPct val="0"/>
                  </a:spcBef>
                  <a:spcAft>
                    <a:spcPct val="0"/>
                  </a:spcAft>
                  <a:tabLst>
                    <a:tab pos="822325" algn="l"/>
                  </a:tabLst>
                </a:pPr>
                <a:endParaRPr lang="en-US" altLang="en-US" sz="1700" dirty="0">
                  <a:latin typeface="Arial" panose="020B0604020202020204" pitchFamily="34" charset="0"/>
                </a:endParaRPr>
              </a:p>
              <a:p>
                <a:endParaRPr lang="en-US" dirty="0"/>
              </a:p>
            </p:txBody>
          </p:sp>
        </mc:Choice>
        <mc:Fallback xmlns="">
          <p:sp>
            <p:nvSpPr>
              <p:cNvPr id="4" name="Text Placeholder 3">
                <a:extLst>
                  <a:ext uri="{FF2B5EF4-FFF2-40B4-BE49-F238E27FC236}">
                    <a16:creationId xmlns:a16="http://schemas.microsoft.com/office/drawing/2014/main" id="{A44F98C5-445B-FB8E-4A71-B08E89C3FF5E}"/>
                  </a:ext>
                </a:extLst>
              </p:cNvPr>
              <p:cNvSpPr>
                <a:spLocks noGrp="1" noRot="1" noChangeAspect="1" noMove="1" noResize="1" noEditPoints="1" noAdjustHandles="1" noChangeArrowheads="1" noChangeShapeType="1" noTextEdit="1"/>
              </p:cNvSpPr>
              <p:nvPr>
                <p:ph type="body" sz="half" idx="2"/>
              </p:nvPr>
            </p:nvSpPr>
            <p:spPr>
              <a:xfrm>
                <a:off x="976132" y="1326437"/>
                <a:ext cx="3932237" cy="5155386"/>
              </a:xfrm>
              <a:blipFill>
                <a:blip r:embed="rId2"/>
                <a:stretch>
                  <a:fillRect l="-620" t="-1420"/>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55B98A5F-EC37-912C-81EA-21C2627D039A}"/>
              </a:ext>
            </a:extLst>
          </p:cNvPr>
          <p:cNvGraphicFramePr>
            <a:graphicFrameLocks noGrp="1"/>
          </p:cNvGraphicFramePr>
          <p:nvPr>
            <p:extLst>
              <p:ext uri="{D42A27DB-BD31-4B8C-83A1-F6EECF244321}">
                <p14:modId xmlns:p14="http://schemas.microsoft.com/office/powerpoint/2010/main" val="4147367672"/>
              </p:ext>
            </p:extLst>
          </p:nvPr>
        </p:nvGraphicFramePr>
        <p:xfrm>
          <a:off x="6138548" y="401941"/>
          <a:ext cx="5585432" cy="5304383"/>
        </p:xfrm>
        <a:graphic>
          <a:graphicData uri="http://schemas.openxmlformats.org/drawingml/2006/table">
            <a:tbl>
              <a:tblPr firstRow="1" firstCol="1" bandRow="1">
                <a:tableStyleId>{5C22544A-7EE6-4342-B048-85BDC9FD1C3A}</a:tableStyleId>
              </a:tblPr>
              <a:tblGrid>
                <a:gridCol w="1253978">
                  <a:extLst>
                    <a:ext uri="{9D8B030D-6E8A-4147-A177-3AD203B41FA5}">
                      <a16:colId xmlns:a16="http://schemas.microsoft.com/office/drawing/2014/main" val="2969097326"/>
                    </a:ext>
                  </a:extLst>
                </a:gridCol>
                <a:gridCol w="1509716">
                  <a:extLst>
                    <a:ext uri="{9D8B030D-6E8A-4147-A177-3AD203B41FA5}">
                      <a16:colId xmlns:a16="http://schemas.microsoft.com/office/drawing/2014/main" val="561194192"/>
                    </a:ext>
                  </a:extLst>
                </a:gridCol>
                <a:gridCol w="1509716">
                  <a:extLst>
                    <a:ext uri="{9D8B030D-6E8A-4147-A177-3AD203B41FA5}">
                      <a16:colId xmlns:a16="http://schemas.microsoft.com/office/drawing/2014/main" val="2897967391"/>
                    </a:ext>
                  </a:extLst>
                </a:gridCol>
                <a:gridCol w="1312022">
                  <a:extLst>
                    <a:ext uri="{9D8B030D-6E8A-4147-A177-3AD203B41FA5}">
                      <a16:colId xmlns:a16="http://schemas.microsoft.com/office/drawing/2014/main" val="888737136"/>
                    </a:ext>
                  </a:extLst>
                </a:gridCol>
              </a:tblGrid>
              <a:tr h="327583">
                <a:tc>
                  <a:txBody>
                    <a:bodyPr/>
                    <a:lstStyle/>
                    <a:p>
                      <a:pPr marL="0" marR="0" algn="ctr">
                        <a:lnSpc>
                          <a:spcPct val="115000"/>
                        </a:lnSpc>
                        <a:spcAft>
                          <a:spcPts val="800"/>
                        </a:spcAft>
                        <a:buNone/>
                      </a:pPr>
                      <a:r>
                        <a:rPr lang="en-US" sz="1600" kern="0">
                          <a:effectLst/>
                        </a:rPr>
                        <a:t>Age Group</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600" kern="0">
                          <a:effectLst/>
                        </a:rPr>
                        <a:t>Total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600" kern="0">
                          <a:effectLst/>
                        </a:rPr>
                        <a:t>Expected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600" kern="0">
                          <a:effectLst/>
                        </a:rPr>
                        <a:t>Chi Term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3637394639"/>
                  </a:ext>
                </a:extLst>
              </a:tr>
              <a:tr h="311050">
                <a:tc>
                  <a:txBody>
                    <a:bodyPr/>
                    <a:lstStyle/>
                    <a:p>
                      <a:pPr marL="0" marR="0" algn="ctr">
                        <a:lnSpc>
                          <a:spcPct val="115000"/>
                        </a:lnSpc>
                        <a:spcAft>
                          <a:spcPts val="800"/>
                        </a:spcAft>
                        <a:buNone/>
                      </a:pPr>
                      <a:r>
                        <a:rPr lang="en-US" sz="1300" kern="0">
                          <a:effectLst/>
                        </a:rPr>
                        <a:t>00-04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23456241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1365468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537464291"/>
                  </a:ext>
                </a:extLst>
              </a:tr>
              <a:tr h="311050">
                <a:tc>
                  <a:txBody>
                    <a:bodyPr/>
                    <a:lstStyle/>
                    <a:p>
                      <a:pPr marL="0" marR="0" algn="ctr">
                        <a:lnSpc>
                          <a:spcPct val="115000"/>
                        </a:lnSpc>
                        <a:spcAft>
                          <a:spcPts val="800"/>
                        </a:spcAft>
                        <a:buNone/>
                      </a:pPr>
                      <a:r>
                        <a:rPr lang="en-US" sz="1300" kern="0">
                          <a:effectLst/>
                        </a:rPr>
                        <a:t>05-09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24373027</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1910023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4185203755"/>
                  </a:ext>
                </a:extLst>
              </a:tr>
              <a:tr h="311050">
                <a:tc>
                  <a:txBody>
                    <a:bodyPr/>
                    <a:lstStyle/>
                    <a:p>
                      <a:pPr marL="0" marR="0" algn="ctr">
                        <a:lnSpc>
                          <a:spcPct val="115000"/>
                        </a:lnSpc>
                        <a:spcAft>
                          <a:spcPts val="800"/>
                        </a:spcAft>
                        <a:buNone/>
                      </a:pPr>
                      <a:r>
                        <a:rPr lang="en-US" sz="1300" kern="0">
                          <a:effectLst/>
                        </a:rPr>
                        <a:t>10-14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25635098.5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2808809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389165334"/>
                  </a:ext>
                </a:extLst>
              </a:tr>
              <a:tr h="311050">
                <a:tc>
                  <a:txBody>
                    <a:bodyPr/>
                    <a:lstStyle/>
                    <a:p>
                      <a:pPr marL="0" marR="0" algn="ctr">
                        <a:lnSpc>
                          <a:spcPct val="115000"/>
                        </a:lnSpc>
                        <a:spcAft>
                          <a:spcPts val="800"/>
                        </a:spcAft>
                        <a:buNone/>
                      </a:pPr>
                      <a:r>
                        <a:rPr lang="en-US" sz="1300" kern="0">
                          <a:effectLst/>
                        </a:rPr>
                        <a:t>15-19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26876491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3861416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1048467145"/>
                  </a:ext>
                </a:extLst>
              </a:tr>
              <a:tr h="311050">
                <a:tc>
                  <a:txBody>
                    <a:bodyPr/>
                    <a:lstStyle/>
                    <a:p>
                      <a:pPr marL="0" marR="0" algn="ctr">
                        <a:lnSpc>
                          <a:spcPct val="115000"/>
                        </a:lnSpc>
                        <a:spcAft>
                          <a:spcPts val="800"/>
                        </a:spcAft>
                        <a:buNone/>
                      </a:pPr>
                      <a:r>
                        <a:rPr lang="en-US" sz="1300" kern="0">
                          <a:effectLst/>
                        </a:rPr>
                        <a:t>20-24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30442587</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7814985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3779757059"/>
                  </a:ext>
                </a:extLst>
              </a:tr>
              <a:tr h="311050">
                <a:tc>
                  <a:txBody>
                    <a:bodyPr/>
                    <a:lstStyle/>
                    <a:p>
                      <a:pPr marL="0" marR="0" algn="ctr">
                        <a:lnSpc>
                          <a:spcPct val="115000"/>
                        </a:lnSpc>
                        <a:spcAft>
                          <a:spcPts val="800"/>
                        </a:spcAft>
                        <a:buNone/>
                      </a:pPr>
                      <a:r>
                        <a:rPr lang="en-US" sz="1300" kern="0">
                          <a:effectLst/>
                        </a:rPr>
                        <a:t>25-29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29320648.5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6422422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1070648516"/>
                  </a:ext>
                </a:extLst>
              </a:tr>
              <a:tr h="311050">
                <a:tc>
                  <a:txBody>
                    <a:bodyPr/>
                    <a:lstStyle/>
                    <a:p>
                      <a:pPr marL="0" marR="0" algn="ctr">
                        <a:lnSpc>
                          <a:spcPct val="115000"/>
                        </a:lnSpc>
                        <a:spcAft>
                          <a:spcPts val="800"/>
                        </a:spcAft>
                        <a:buNone/>
                      </a:pPr>
                      <a:r>
                        <a:rPr lang="en-US" sz="1300" kern="0">
                          <a:effectLst/>
                        </a:rPr>
                        <a:t>30-34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25468697</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2680418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2642460262"/>
                  </a:ext>
                </a:extLst>
              </a:tr>
              <a:tr h="311050">
                <a:tc>
                  <a:txBody>
                    <a:bodyPr/>
                    <a:lstStyle/>
                    <a:p>
                      <a:pPr marL="0" marR="0" algn="ctr">
                        <a:lnSpc>
                          <a:spcPct val="115000"/>
                        </a:lnSpc>
                        <a:spcAft>
                          <a:spcPts val="800"/>
                        </a:spcAft>
                        <a:buNone/>
                      </a:pPr>
                      <a:r>
                        <a:rPr lang="en-US" sz="1300" kern="0">
                          <a:effectLst/>
                        </a:rPr>
                        <a:t>35-39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23097636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1177268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936106210"/>
                  </a:ext>
                </a:extLst>
              </a:tr>
              <a:tr h="311050">
                <a:tc>
                  <a:txBody>
                    <a:bodyPr/>
                    <a:lstStyle/>
                    <a:p>
                      <a:pPr marL="0" marR="0" algn="ctr">
                        <a:lnSpc>
                          <a:spcPct val="115000"/>
                        </a:lnSpc>
                        <a:spcAft>
                          <a:spcPts val="800"/>
                        </a:spcAft>
                        <a:buNone/>
                      </a:pPr>
                      <a:r>
                        <a:rPr lang="en-US" sz="1300" kern="0">
                          <a:effectLst/>
                        </a:rPr>
                        <a:t>40-44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19860908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109721.8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1288280228"/>
                  </a:ext>
                </a:extLst>
              </a:tr>
              <a:tr h="311050">
                <a:tc>
                  <a:txBody>
                    <a:bodyPr/>
                    <a:lstStyle/>
                    <a:p>
                      <a:pPr marL="0" marR="0" algn="ctr">
                        <a:lnSpc>
                          <a:spcPct val="115000"/>
                        </a:lnSpc>
                        <a:spcAft>
                          <a:spcPts val="800"/>
                        </a:spcAft>
                        <a:buNone/>
                      </a:pPr>
                      <a:r>
                        <a:rPr lang="en-US" sz="1300" kern="0">
                          <a:effectLst/>
                        </a:rPr>
                        <a:t>45-49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17065502.5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102245.1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977937511"/>
                  </a:ext>
                </a:extLst>
              </a:tr>
              <a:tr h="311050">
                <a:tc>
                  <a:txBody>
                    <a:bodyPr/>
                    <a:lstStyle/>
                    <a:p>
                      <a:pPr marL="0" marR="0" algn="ctr">
                        <a:lnSpc>
                          <a:spcPct val="115000"/>
                        </a:lnSpc>
                        <a:spcAft>
                          <a:spcPts val="800"/>
                        </a:spcAft>
                        <a:buNone/>
                      </a:pPr>
                      <a:r>
                        <a:rPr lang="en-US" sz="1300" kern="0">
                          <a:effectLst/>
                        </a:rPr>
                        <a:t>50-54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13595898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1271860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1626870924"/>
                  </a:ext>
                </a:extLst>
              </a:tr>
              <a:tr h="311050">
                <a:tc>
                  <a:txBody>
                    <a:bodyPr/>
                    <a:lstStyle/>
                    <a:p>
                      <a:pPr marL="0" marR="0" algn="ctr">
                        <a:lnSpc>
                          <a:spcPct val="115000"/>
                        </a:lnSpc>
                        <a:spcAft>
                          <a:spcPts val="800"/>
                        </a:spcAft>
                        <a:buNone/>
                      </a:pPr>
                      <a:r>
                        <a:rPr lang="en-US" sz="1300" kern="0">
                          <a:effectLst/>
                        </a:rPr>
                        <a:t>55-59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10586263.5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3343992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831648093"/>
                  </a:ext>
                </a:extLst>
              </a:tr>
              <a:tr h="311050">
                <a:tc>
                  <a:txBody>
                    <a:bodyPr/>
                    <a:lstStyle/>
                    <a:p>
                      <a:pPr marL="0" marR="0" algn="ctr">
                        <a:lnSpc>
                          <a:spcPct val="115000"/>
                        </a:lnSpc>
                        <a:spcAft>
                          <a:spcPts val="800"/>
                        </a:spcAft>
                        <a:buNone/>
                      </a:pPr>
                      <a:r>
                        <a:rPr lang="en-US" sz="1300" kern="0">
                          <a:effectLst/>
                        </a:rPr>
                        <a:t>60-64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8912146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4921880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3401802412"/>
                  </a:ext>
                </a:extLst>
              </a:tr>
              <a:tr h="311050">
                <a:tc>
                  <a:txBody>
                    <a:bodyPr/>
                    <a:lstStyle/>
                    <a:p>
                      <a:pPr marL="0" marR="0" algn="ctr">
                        <a:lnSpc>
                          <a:spcPct val="115000"/>
                        </a:lnSpc>
                        <a:spcAft>
                          <a:spcPts val="800"/>
                        </a:spcAft>
                        <a:buNone/>
                      </a:pPr>
                      <a:r>
                        <a:rPr lang="en-US" sz="1300" kern="0">
                          <a:effectLst/>
                        </a:rPr>
                        <a:t>65-69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5981238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8416311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214204456"/>
                  </a:ext>
                </a:extLst>
              </a:tr>
              <a:tr h="311050">
                <a:tc>
                  <a:txBody>
                    <a:bodyPr/>
                    <a:lstStyle/>
                    <a:p>
                      <a:pPr marL="0" marR="0" algn="ctr">
                        <a:lnSpc>
                          <a:spcPct val="115000"/>
                        </a:lnSpc>
                        <a:spcAft>
                          <a:spcPts val="800"/>
                        </a:spcAft>
                        <a:buNone/>
                      </a:pPr>
                      <a:r>
                        <a:rPr lang="en-US" sz="1300" kern="0">
                          <a:effectLst/>
                        </a:rPr>
                        <a:t>70-74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4558818.5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10448050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1955400060"/>
                  </a:ext>
                </a:extLst>
              </a:tr>
              <a:tr h="311050">
                <a:tc>
                  <a:txBody>
                    <a:bodyPr/>
                    <a:lstStyle/>
                    <a:p>
                      <a:pPr marL="0" marR="0" algn="ctr">
                        <a:lnSpc>
                          <a:spcPct val="115000"/>
                        </a:lnSpc>
                        <a:spcAft>
                          <a:spcPts val="800"/>
                        </a:spcAft>
                        <a:buNone/>
                      </a:pPr>
                      <a:r>
                        <a:rPr lang="en-US" sz="1300" kern="0">
                          <a:effectLst/>
                        </a:rPr>
                        <a:t>75+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5785554.5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a:effectLst/>
                        </a:rPr>
                        <a:t>18438547.2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tc>
                  <a:txBody>
                    <a:bodyPr/>
                    <a:lstStyle/>
                    <a:p>
                      <a:pPr marL="0" marR="0" algn="ctr">
                        <a:lnSpc>
                          <a:spcPct val="115000"/>
                        </a:lnSpc>
                        <a:spcAft>
                          <a:spcPts val="800"/>
                        </a:spcAft>
                        <a:buNone/>
                      </a:pPr>
                      <a:r>
                        <a:rPr lang="en-US" sz="1300" kern="0" dirty="0">
                          <a:effectLst/>
                        </a:rPr>
                        <a:t>8682800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067" marR="62067" marT="0" marB="0" anchor="b"/>
                </a:tc>
                <a:extLst>
                  <a:ext uri="{0D108BD9-81ED-4DB2-BD59-A6C34878D82A}">
                    <a16:rowId xmlns:a16="http://schemas.microsoft.com/office/drawing/2014/main" val="1882090975"/>
                  </a:ext>
                </a:extLst>
              </a:tr>
            </a:tbl>
          </a:graphicData>
        </a:graphic>
      </p:graphicFrame>
    </p:spTree>
    <p:extLst>
      <p:ext uri="{BB962C8B-B14F-4D97-AF65-F5344CB8AC3E}">
        <p14:creationId xmlns:p14="http://schemas.microsoft.com/office/powerpoint/2010/main" val="415704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3B7D4-BBAA-D644-D55D-7CE830578A8B}"/>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6718ED3A-A5E7-EE6C-5CA6-D265107E7161}"/>
              </a:ext>
            </a:extLst>
          </p:cNvPr>
          <p:cNvPicPr>
            <a:picLocks noChangeAspect="1"/>
          </p:cNvPicPr>
          <p:nvPr/>
        </p:nvPicPr>
        <p:blipFill>
          <a:blip r:embed="rId3"/>
          <a:stretch>
            <a:fillRect/>
          </a:stretch>
        </p:blipFill>
        <p:spPr>
          <a:xfrm>
            <a:off x="6418494" y="-456202"/>
            <a:ext cx="8146352" cy="4575099"/>
          </a:xfrm>
          <a:prstGeom prst="rect">
            <a:avLst/>
          </a:prstGeom>
        </p:spPr>
      </p:pic>
      <p:pic>
        <p:nvPicPr>
          <p:cNvPr id="21" name="Picture 20">
            <a:extLst>
              <a:ext uri="{FF2B5EF4-FFF2-40B4-BE49-F238E27FC236}">
                <a16:creationId xmlns:a16="http://schemas.microsoft.com/office/drawing/2014/main" id="{62D30618-C070-5C2E-3E08-F16CCA0F4009}"/>
              </a:ext>
            </a:extLst>
          </p:cNvPr>
          <p:cNvPicPr>
            <a:picLocks noChangeAspect="1"/>
          </p:cNvPicPr>
          <p:nvPr/>
        </p:nvPicPr>
        <p:blipFill>
          <a:blip r:embed="rId3"/>
          <a:stretch>
            <a:fillRect/>
          </a:stretch>
        </p:blipFill>
        <p:spPr>
          <a:xfrm>
            <a:off x="6314931" y="3389958"/>
            <a:ext cx="8173408" cy="4938309"/>
          </a:xfrm>
          <a:prstGeom prst="rect">
            <a:avLst/>
          </a:prstGeom>
        </p:spPr>
      </p:pic>
      <p:pic>
        <p:nvPicPr>
          <p:cNvPr id="20" name="Picture 19">
            <a:extLst>
              <a:ext uri="{FF2B5EF4-FFF2-40B4-BE49-F238E27FC236}">
                <a16:creationId xmlns:a16="http://schemas.microsoft.com/office/drawing/2014/main" id="{5B716306-3079-5734-B5C1-454EC51D898D}"/>
              </a:ext>
            </a:extLst>
          </p:cNvPr>
          <p:cNvPicPr>
            <a:picLocks noChangeAspect="1"/>
          </p:cNvPicPr>
          <p:nvPr/>
        </p:nvPicPr>
        <p:blipFill>
          <a:blip r:embed="rId3"/>
          <a:stretch>
            <a:fillRect/>
          </a:stretch>
        </p:blipFill>
        <p:spPr>
          <a:xfrm>
            <a:off x="-636824" y="3468042"/>
            <a:ext cx="8470184" cy="4938309"/>
          </a:xfrm>
          <a:prstGeom prst="rect">
            <a:avLst/>
          </a:prstGeom>
        </p:spPr>
      </p:pic>
      <p:pic>
        <p:nvPicPr>
          <p:cNvPr id="18" name="Picture 17">
            <a:extLst>
              <a:ext uri="{FF2B5EF4-FFF2-40B4-BE49-F238E27FC236}">
                <a16:creationId xmlns:a16="http://schemas.microsoft.com/office/drawing/2014/main" id="{CAF0290F-BCCE-0166-DF31-237DBA46AA67}"/>
              </a:ext>
            </a:extLst>
          </p:cNvPr>
          <p:cNvPicPr>
            <a:picLocks noChangeAspect="1"/>
          </p:cNvPicPr>
          <p:nvPr/>
        </p:nvPicPr>
        <p:blipFill>
          <a:blip r:embed="rId3"/>
          <a:stretch>
            <a:fillRect/>
          </a:stretch>
        </p:blipFill>
        <p:spPr>
          <a:xfrm>
            <a:off x="-581610" y="-439792"/>
            <a:ext cx="7116433" cy="4771768"/>
          </a:xfrm>
          <a:prstGeom prst="rect">
            <a:avLst/>
          </a:prstGeom>
        </p:spPr>
      </p:pic>
      <p:sp>
        <p:nvSpPr>
          <p:cNvPr id="2" name="Title 1">
            <a:extLst>
              <a:ext uri="{FF2B5EF4-FFF2-40B4-BE49-F238E27FC236}">
                <a16:creationId xmlns:a16="http://schemas.microsoft.com/office/drawing/2014/main" id="{0C20E099-AD63-6484-7E49-C6626DDAF503}"/>
              </a:ext>
            </a:extLst>
          </p:cNvPr>
          <p:cNvSpPr>
            <a:spLocks noGrp="1"/>
          </p:cNvSpPr>
          <p:nvPr>
            <p:ph type="ctrTitle"/>
          </p:nvPr>
        </p:nvSpPr>
        <p:spPr>
          <a:xfrm>
            <a:off x="3762013" y="4087638"/>
            <a:ext cx="3977640" cy="644843"/>
          </a:xfrm>
          <a:effectLst>
            <a:outerShdw blurRad="50800" dist="38100" dir="2700000" algn="tl" rotWithShape="0">
              <a:prstClr val="black">
                <a:alpha val="40000"/>
              </a:prstClr>
            </a:outerShdw>
          </a:effectLst>
        </p:spPr>
        <p:txBody>
          <a:bodyPr>
            <a:normAutofit fontScale="90000"/>
          </a:bodyPr>
          <a:lstStyle/>
          <a:p>
            <a:r>
              <a:rPr lang="en-US" sz="4400" dirty="0">
                <a:solidFill>
                  <a:schemeClr val="accent4"/>
                </a:solidFill>
                <a:latin typeface="Arial Black" panose="020B0A04020102020204" pitchFamily="34" charset="0"/>
                <a:ea typeface="+mn-ea"/>
                <a:cs typeface="+mn-cs"/>
              </a:rPr>
              <a:t>RESULT AND </a:t>
            </a:r>
            <a:br>
              <a:rPr lang="en-US" sz="4400" dirty="0">
                <a:solidFill>
                  <a:schemeClr val="accent4"/>
                </a:solidFill>
                <a:latin typeface="Arial Black" panose="020B0A04020102020204" pitchFamily="34" charset="0"/>
                <a:ea typeface="+mn-ea"/>
                <a:cs typeface="+mn-cs"/>
              </a:rPr>
            </a:br>
            <a:r>
              <a:rPr lang="en-US" sz="4400" dirty="0">
                <a:solidFill>
                  <a:schemeClr val="accent4"/>
                </a:solidFill>
                <a:latin typeface="Arial Black" panose="020B0A04020102020204" pitchFamily="34" charset="0"/>
                <a:ea typeface="+mn-ea"/>
                <a:cs typeface="+mn-cs"/>
              </a:rPr>
              <a:t>DISCUSSION</a:t>
            </a:r>
            <a:br>
              <a:rPr lang="en-US" dirty="0"/>
            </a:br>
            <a:endParaRPr lang="en-US" dirty="0"/>
          </a:p>
        </p:txBody>
      </p:sp>
      <p:sp>
        <p:nvSpPr>
          <p:cNvPr id="3" name="Subtitle 2">
            <a:extLst>
              <a:ext uri="{FF2B5EF4-FFF2-40B4-BE49-F238E27FC236}">
                <a16:creationId xmlns:a16="http://schemas.microsoft.com/office/drawing/2014/main" id="{77CBE542-CB1D-3E91-7534-87B3FD058ADF}"/>
              </a:ext>
            </a:extLst>
          </p:cNvPr>
          <p:cNvSpPr>
            <a:spLocks noGrp="1"/>
          </p:cNvSpPr>
          <p:nvPr>
            <p:ph type="subTitle" idx="1"/>
          </p:nvPr>
        </p:nvSpPr>
        <p:spPr>
          <a:xfrm>
            <a:off x="76143" y="173738"/>
            <a:ext cx="4479769" cy="2816140"/>
          </a:xfrm>
        </p:spPr>
        <p:txBody>
          <a:bodyPr>
            <a:normAutofit fontScale="85000" lnSpcReduction="20000"/>
          </a:bodyPr>
          <a:lstStyle/>
          <a:p>
            <a:pPr algn="just">
              <a:lnSpc>
                <a:spcPct val="120000"/>
              </a:lnSpc>
            </a:pPr>
            <a:r>
              <a:rPr lang="en-US" sz="2600" b="1" dirty="0"/>
              <a:t>Strengthening Government Role in Cancer Control  </a:t>
            </a:r>
          </a:p>
          <a:p>
            <a:pPr marL="342900" indent="-342900" algn="l">
              <a:buFont typeface="Arial" panose="020B0604020202020204" pitchFamily="34" charset="0"/>
              <a:buChar char="•"/>
            </a:pPr>
            <a:r>
              <a:rPr lang="en-US" sz="2300" dirty="0"/>
              <a:t>Government agencies should improve cancer surveillance system</a:t>
            </a:r>
          </a:p>
          <a:p>
            <a:pPr marL="342900" indent="-342900" algn="l">
              <a:buFont typeface="Arial" panose="020B0604020202020204" pitchFamily="34" charset="0"/>
              <a:buChar char="•"/>
            </a:pPr>
            <a:r>
              <a:rPr lang="en-US" sz="2300" dirty="0"/>
              <a:t>The government should increase funding for cancer prevention</a:t>
            </a:r>
          </a:p>
          <a:p>
            <a:pPr marL="342900" indent="-342900" algn="l">
              <a:buFont typeface="Arial" panose="020B0604020202020204" pitchFamily="34" charset="0"/>
              <a:buChar char="•"/>
            </a:pPr>
            <a:r>
              <a:rPr lang="en-US" sz="2300" dirty="0"/>
              <a:t>Nationwide campaigns should educate people about cancer risk factors</a:t>
            </a:r>
          </a:p>
          <a:p>
            <a:pPr algn="just"/>
            <a:endParaRPr lang="en-US" sz="1800" dirty="0"/>
          </a:p>
        </p:txBody>
      </p:sp>
      <p:sp>
        <p:nvSpPr>
          <p:cNvPr id="13" name="TextBox 12">
            <a:extLst>
              <a:ext uri="{FF2B5EF4-FFF2-40B4-BE49-F238E27FC236}">
                <a16:creationId xmlns:a16="http://schemas.microsoft.com/office/drawing/2014/main" id="{4C308236-35F5-9759-BA59-DB3FDC353733}"/>
              </a:ext>
            </a:extLst>
          </p:cNvPr>
          <p:cNvSpPr txBox="1"/>
          <p:nvPr/>
        </p:nvSpPr>
        <p:spPr>
          <a:xfrm>
            <a:off x="7369113" y="67575"/>
            <a:ext cx="4611822" cy="2893100"/>
          </a:xfrm>
          <a:prstGeom prst="rect">
            <a:avLst/>
          </a:prstGeom>
          <a:noFill/>
        </p:spPr>
        <p:txBody>
          <a:bodyPr wrap="square" rtlCol="0">
            <a:spAutoFit/>
          </a:bodyPr>
          <a:lstStyle/>
          <a:p>
            <a:pPr algn="just"/>
            <a:r>
              <a:rPr lang="en-US" sz="2200" b="1" dirty="0"/>
              <a:t>Enhancing Healthcare Infrastructure and Accessibility</a:t>
            </a:r>
            <a:r>
              <a:rPr lang="en-US" sz="2200" dirty="0"/>
              <a:t>  </a:t>
            </a:r>
          </a:p>
          <a:p>
            <a:pPr marL="285750" indent="-285750">
              <a:buFont typeface="Arial" panose="020B0604020202020204" pitchFamily="34" charset="0"/>
              <a:buChar char="•"/>
            </a:pPr>
            <a:r>
              <a:rPr lang="en-US" sz="2000" dirty="0"/>
              <a:t>High-burden regions should have more oncology centers</a:t>
            </a:r>
          </a:p>
          <a:p>
            <a:pPr marL="285750" indent="-285750">
              <a:buFont typeface="Arial" panose="020B0604020202020204" pitchFamily="34" charset="0"/>
              <a:buChar char="•"/>
            </a:pPr>
            <a:r>
              <a:rPr lang="en-US" sz="2000" dirty="0"/>
              <a:t>Financial assistance programs and insurance coverage should be improved to lessen the economic burden of cancer treatment </a:t>
            </a:r>
          </a:p>
          <a:p>
            <a:endParaRPr lang="en-US" dirty="0"/>
          </a:p>
        </p:txBody>
      </p:sp>
      <p:sp>
        <p:nvSpPr>
          <p:cNvPr id="14" name="TextBox 13">
            <a:extLst>
              <a:ext uri="{FF2B5EF4-FFF2-40B4-BE49-F238E27FC236}">
                <a16:creationId xmlns:a16="http://schemas.microsoft.com/office/drawing/2014/main" id="{30CAC66D-A1E3-BC2F-C2AA-88CC1594B840}"/>
              </a:ext>
            </a:extLst>
          </p:cNvPr>
          <p:cNvSpPr txBox="1"/>
          <p:nvPr/>
        </p:nvSpPr>
        <p:spPr>
          <a:xfrm>
            <a:off x="7062018" y="3822954"/>
            <a:ext cx="5226013" cy="3170099"/>
          </a:xfrm>
          <a:prstGeom prst="rect">
            <a:avLst/>
          </a:prstGeom>
          <a:noFill/>
        </p:spPr>
        <p:txBody>
          <a:bodyPr wrap="square" rtlCol="0">
            <a:spAutoFit/>
          </a:bodyPr>
          <a:lstStyle/>
          <a:p>
            <a:r>
              <a:rPr lang="en-US" sz="2200" b="1" dirty="0"/>
              <a:t>Gender- and Age-Specific Interventions</a:t>
            </a:r>
            <a:r>
              <a:rPr lang="en-US" sz="2200" dirty="0"/>
              <a:t>  </a:t>
            </a:r>
          </a:p>
          <a:p>
            <a:pPr marL="285750" indent="-285750">
              <a:buFont typeface="Arial" panose="020B0604020202020204" pitchFamily="34" charset="0"/>
              <a:buChar char="•"/>
            </a:pPr>
            <a:r>
              <a:rPr lang="en-US" sz="2000" dirty="0"/>
              <a:t>Efforts should also address specific gender-related cancers through targeted initiatives as cancer affects both males and females nearly equally,</a:t>
            </a:r>
          </a:p>
          <a:p>
            <a:pPr marL="285750" indent="-285750">
              <a:buFont typeface="Arial" panose="020B0604020202020204" pitchFamily="34" charset="0"/>
              <a:buChar char="•"/>
            </a:pPr>
            <a:r>
              <a:rPr lang="en-US" sz="2000" dirty="0"/>
              <a:t>Considering the higher incidence among younger and middle-aged populations, early screening, lifestyle changes, and awareness programs in schools should be prioritized.  </a:t>
            </a:r>
          </a:p>
          <a:p>
            <a:endParaRPr lang="en-US" dirty="0"/>
          </a:p>
        </p:txBody>
      </p:sp>
      <p:sp>
        <p:nvSpPr>
          <p:cNvPr id="15" name="TextBox 14">
            <a:extLst>
              <a:ext uri="{FF2B5EF4-FFF2-40B4-BE49-F238E27FC236}">
                <a16:creationId xmlns:a16="http://schemas.microsoft.com/office/drawing/2014/main" id="{A036C6F2-ABE7-A373-3790-9DFAFB17AE48}"/>
              </a:ext>
            </a:extLst>
          </p:cNvPr>
          <p:cNvSpPr txBox="1"/>
          <p:nvPr/>
        </p:nvSpPr>
        <p:spPr>
          <a:xfrm>
            <a:off x="76143" y="3822954"/>
            <a:ext cx="5800928" cy="3477875"/>
          </a:xfrm>
          <a:prstGeom prst="rect">
            <a:avLst/>
          </a:prstGeom>
          <a:noFill/>
        </p:spPr>
        <p:txBody>
          <a:bodyPr wrap="square" rtlCol="0">
            <a:spAutoFit/>
          </a:bodyPr>
          <a:lstStyle/>
          <a:p>
            <a:pPr algn="just"/>
            <a:r>
              <a:rPr lang="en-US" sz="2200" b="1" dirty="0"/>
              <a:t>Research and Capacity Building</a:t>
            </a:r>
            <a:r>
              <a:rPr lang="en-US" sz="2200" dirty="0"/>
              <a:t>  </a:t>
            </a:r>
          </a:p>
          <a:p>
            <a:pPr marL="285750" indent="-285750">
              <a:buFont typeface="Arial" panose="020B0604020202020204" pitchFamily="34" charset="0"/>
              <a:buChar char="•"/>
            </a:pPr>
            <a:r>
              <a:rPr lang="en-US" sz="2000" dirty="0"/>
              <a:t>Future studies should include primary data, district-level analysis, and other factors like socioeconomic status, environmental exposure, and lifestyle choices to offer better insights into cancer trends.  </a:t>
            </a:r>
          </a:p>
          <a:p>
            <a:pPr marL="285750" indent="-285750">
              <a:buFont typeface="Arial" panose="020B0604020202020204" pitchFamily="34" charset="0"/>
              <a:buChar char="•"/>
            </a:pPr>
            <a:r>
              <a:rPr lang="en-US" sz="2000" dirty="0"/>
              <a:t>Ongoing training programs should be provided for healthcare professionals to enhance early diagnosis, reporting accuracy, and patient care outcomes.  </a:t>
            </a:r>
          </a:p>
          <a:p>
            <a:endParaRPr lang="en-US" dirty="0"/>
          </a:p>
        </p:txBody>
      </p:sp>
    </p:spTree>
    <p:extLst>
      <p:ext uri="{BB962C8B-B14F-4D97-AF65-F5344CB8AC3E}">
        <p14:creationId xmlns:p14="http://schemas.microsoft.com/office/powerpoint/2010/main" val="60928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E3EF4-9F76-C273-C70A-5F6FF43E4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A74D8-4873-4018-D84B-C0E7FDFCB5B1}"/>
              </a:ext>
            </a:extLst>
          </p:cNvPr>
          <p:cNvSpPr>
            <a:spLocks noGrp="1"/>
          </p:cNvSpPr>
          <p:nvPr>
            <p:ph type="ctrTitle"/>
          </p:nvPr>
        </p:nvSpPr>
        <p:spPr>
          <a:xfrm>
            <a:off x="3982721" y="3272830"/>
            <a:ext cx="4500880" cy="1011237"/>
          </a:xfrm>
          <a:effectLst>
            <a:outerShdw blurRad="50800" dist="38100" dir="2700000" algn="tl" rotWithShape="0">
              <a:prstClr val="black">
                <a:alpha val="40000"/>
              </a:prstClr>
            </a:outerShdw>
          </a:effectLst>
        </p:spPr>
        <p:txBody>
          <a:bodyPr>
            <a:normAutofit fontScale="90000"/>
          </a:bodyPr>
          <a:lstStyle/>
          <a:p>
            <a:r>
              <a:rPr lang="en-US" sz="4900" dirty="0">
                <a:solidFill>
                  <a:schemeClr val="accent4"/>
                </a:solidFill>
                <a:latin typeface="Arial Black" panose="020B0A04020102020204" pitchFamily="34" charset="0"/>
                <a:ea typeface="+mn-ea"/>
                <a:cs typeface="+mn-cs"/>
              </a:rPr>
              <a:t>LIMITATION</a:t>
            </a:r>
            <a:br>
              <a:rPr lang="en-US" dirty="0"/>
            </a:br>
            <a:endParaRPr lang="en-US" dirty="0"/>
          </a:p>
        </p:txBody>
      </p:sp>
      <p:sp>
        <p:nvSpPr>
          <p:cNvPr id="4" name="TextBox 3">
            <a:extLst>
              <a:ext uri="{FF2B5EF4-FFF2-40B4-BE49-F238E27FC236}">
                <a16:creationId xmlns:a16="http://schemas.microsoft.com/office/drawing/2014/main" id="{8B4C7F3B-49A9-29E8-B262-32C3A0D439A9}"/>
              </a:ext>
            </a:extLst>
          </p:cNvPr>
          <p:cNvSpPr txBox="1"/>
          <p:nvPr/>
        </p:nvSpPr>
        <p:spPr>
          <a:xfrm>
            <a:off x="8787176" y="1451486"/>
            <a:ext cx="3185159" cy="2492990"/>
          </a:xfrm>
          <a:prstGeom prst="rect">
            <a:avLst/>
          </a:prstGeom>
          <a:noFill/>
        </p:spPr>
        <p:txBody>
          <a:bodyPr wrap="square" rtlCol="0">
            <a:spAutoFit/>
          </a:bodyPr>
          <a:lstStyle/>
          <a:p>
            <a:r>
              <a:rPr lang="en-US" sz="2800" b="1" dirty="0"/>
              <a:t>Methodological Constraints</a:t>
            </a:r>
          </a:p>
          <a:p>
            <a:r>
              <a:rPr lang="en-US" sz="2000" dirty="0"/>
              <a:t>Statistical techniques such as chi-square, correlation, covariance, and regression assume uniform data quality across regions. </a:t>
            </a:r>
          </a:p>
        </p:txBody>
      </p:sp>
      <p:sp>
        <p:nvSpPr>
          <p:cNvPr id="5" name="Rectangle: Rounded Corners 4">
            <a:extLst>
              <a:ext uri="{FF2B5EF4-FFF2-40B4-BE49-F238E27FC236}">
                <a16:creationId xmlns:a16="http://schemas.microsoft.com/office/drawing/2014/main" id="{CEF831E8-5562-CDEF-FD27-D0260B35B3CF}"/>
              </a:ext>
            </a:extLst>
          </p:cNvPr>
          <p:cNvSpPr/>
          <p:nvPr/>
        </p:nvSpPr>
        <p:spPr>
          <a:xfrm>
            <a:off x="154941" y="492493"/>
            <a:ext cx="3905070" cy="2780338"/>
          </a:xfrm>
          <a:prstGeom prst="roundRect">
            <a:avLst>
              <a:gd name="adj" fmla="val 8060"/>
            </a:avLst>
          </a:prstGeom>
          <a:noFill/>
          <a:ln>
            <a:solidFill>
              <a:schemeClr val="accent4"/>
            </a:solidFill>
          </a:ln>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33B8A55D-7245-EAEC-089E-9D40910503FD}"/>
              </a:ext>
            </a:extLst>
          </p:cNvPr>
          <p:cNvSpPr/>
          <p:nvPr/>
        </p:nvSpPr>
        <p:spPr>
          <a:xfrm>
            <a:off x="4488585" y="96506"/>
            <a:ext cx="3905070" cy="2585323"/>
          </a:xfrm>
          <a:prstGeom prst="roundRect">
            <a:avLst>
              <a:gd name="adj" fmla="val 8060"/>
            </a:avLst>
          </a:prstGeom>
          <a:noFill/>
          <a:ln>
            <a:solidFill>
              <a:schemeClr val="accent4"/>
            </a:solidFill>
          </a:ln>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CB5DB91-9B5B-ADB7-8CBA-2B7485112941}"/>
              </a:ext>
            </a:extLst>
          </p:cNvPr>
          <p:cNvSpPr/>
          <p:nvPr/>
        </p:nvSpPr>
        <p:spPr>
          <a:xfrm>
            <a:off x="8735060" y="1009425"/>
            <a:ext cx="3249883" cy="3315722"/>
          </a:xfrm>
          <a:prstGeom prst="roundRect">
            <a:avLst>
              <a:gd name="adj" fmla="val 8060"/>
            </a:avLst>
          </a:prstGeom>
          <a:noFill/>
          <a:ln>
            <a:solidFill>
              <a:schemeClr val="accent4"/>
            </a:solidFill>
          </a:ln>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6E4DEF5-E9D4-C554-FB97-C4FCDC70D4A5}"/>
              </a:ext>
            </a:extLst>
          </p:cNvPr>
          <p:cNvSpPr/>
          <p:nvPr/>
        </p:nvSpPr>
        <p:spPr>
          <a:xfrm>
            <a:off x="583515" y="3708395"/>
            <a:ext cx="3905070" cy="2780336"/>
          </a:xfrm>
          <a:prstGeom prst="roundRect">
            <a:avLst>
              <a:gd name="adj" fmla="val 8060"/>
            </a:avLst>
          </a:prstGeom>
          <a:noFill/>
          <a:ln>
            <a:solidFill>
              <a:schemeClr val="accent4"/>
            </a:solidFill>
          </a:ln>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86E07249-B8E1-F387-3756-C26FF4B24FEA}"/>
              </a:ext>
            </a:extLst>
          </p:cNvPr>
          <p:cNvSpPr/>
          <p:nvPr/>
        </p:nvSpPr>
        <p:spPr>
          <a:xfrm>
            <a:off x="4696254" y="3781357"/>
            <a:ext cx="3905070" cy="2780337"/>
          </a:xfrm>
          <a:prstGeom prst="roundRect">
            <a:avLst>
              <a:gd name="adj" fmla="val 8060"/>
            </a:avLst>
          </a:prstGeom>
          <a:noFill/>
          <a:ln>
            <a:solidFill>
              <a:schemeClr val="accent4"/>
            </a:solidFill>
          </a:ln>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9F45099-CCE5-BB03-8384-6ECBC1741EC8}"/>
              </a:ext>
            </a:extLst>
          </p:cNvPr>
          <p:cNvSpPr txBox="1"/>
          <p:nvPr/>
        </p:nvSpPr>
        <p:spPr>
          <a:xfrm>
            <a:off x="207057" y="590000"/>
            <a:ext cx="3905070" cy="1877437"/>
          </a:xfrm>
          <a:prstGeom prst="rect">
            <a:avLst/>
          </a:prstGeom>
          <a:noFill/>
        </p:spPr>
        <p:txBody>
          <a:bodyPr wrap="square" rtlCol="0">
            <a:spAutoFit/>
          </a:bodyPr>
          <a:lstStyle/>
          <a:p>
            <a:r>
              <a:rPr lang="en-US" sz="2800" b="1" dirty="0"/>
              <a:t>Dependence on Secondary Data</a:t>
            </a:r>
          </a:p>
          <a:p>
            <a:r>
              <a:rPr lang="en-US" sz="2000" dirty="0"/>
              <a:t>The study relies entirely on secondary data obtained from a government source. </a:t>
            </a:r>
          </a:p>
        </p:txBody>
      </p:sp>
      <p:sp>
        <p:nvSpPr>
          <p:cNvPr id="10" name="TextBox 9">
            <a:extLst>
              <a:ext uri="{FF2B5EF4-FFF2-40B4-BE49-F238E27FC236}">
                <a16:creationId xmlns:a16="http://schemas.microsoft.com/office/drawing/2014/main" id="{7591C551-65C9-8F3A-2416-6E86A8790157}"/>
              </a:ext>
            </a:extLst>
          </p:cNvPr>
          <p:cNvSpPr txBox="1"/>
          <p:nvPr/>
        </p:nvSpPr>
        <p:spPr>
          <a:xfrm>
            <a:off x="4630647" y="279348"/>
            <a:ext cx="3852954" cy="2492990"/>
          </a:xfrm>
          <a:prstGeom prst="rect">
            <a:avLst/>
          </a:prstGeom>
          <a:noFill/>
        </p:spPr>
        <p:txBody>
          <a:bodyPr wrap="square" rtlCol="0">
            <a:spAutoFit/>
          </a:bodyPr>
          <a:lstStyle/>
          <a:p>
            <a:r>
              <a:rPr lang="en-US" sz="2800" b="1" dirty="0"/>
              <a:t>Use of Aggregate-Level Data</a:t>
            </a:r>
          </a:p>
          <a:p>
            <a:r>
              <a:rPr lang="en-US" sz="2000" dirty="0"/>
              <a:t>The analysis is based on aggregated data, limiting the ability to capture individual-level variations or localized determinants of cancer incidence</a:t>
            </a:r>
            <a:r>
              <a:rPr lang="en-US" dirty="0"/>
              <a:t>. </a:t>
            </a:r>
          </a:p>
        </p:txBody>
      </p:sp>
      <p:sp>
        <p:nvSpPr>
          <p:cNvPr id="11" name="TextBox 10">
            <a:extLst>
              <a:ext uri="{FF2B5EF4-FFF2-40B4-BE49-F238E27FC236}">
                <a16:creationId xmlns:a16="http://schemas.microsoft.com/office/drawing/2014/main" id="{1C025D04-28F7-E5FE-39A6-8AC40C7C0336}"/>
              </a:ext>
            </a:extLst>
          </p:cNvPr>
          <p:cNvSpPr txBox="1"/>
          <p:nvPr/>
        </p:nvSpPr>
        <p:spPr>
          <a:xfrm>
            <a:off x="791184" y="3815063"/>
            <a:ext cx="3586075" cy="2185214"/>
          </a:xfrm>
          <a:prstGeom prst="rect">
            <a:avLst/>
          </a:prstGeom>
          <a:noFill/>
        </p:spPr>
        <p:txBody>
          <a:bodyPr wrap="square" rtlCol="0">
            <a:spAutoFit/>
          </a:bodyPr>
          <a:lstStyle/>
          <a:p>
            <a:r>
              <a:rPr lang="en-US" sz="2800" b="1" dirty="0"/>
              <a:t>Limited Generalizability</a:t>
            </a:r>
          </a:p>
          <a:p>
            <a:r>
              <a:rPr lang="en-US" sz="2000" dirty="0"/>
              <a:t>Exclusion of non-reporting regions restricts the generalizability of findings to the entire population. </a:t>
            </a:r>
          </a:p>
        </p:txBody>
      </p:sp>
      <p:sp>
        <p:nvSpPr>
          <p:cNvPr id="12" name="TextBox 11">
            <a:extLst>
              <a:ext uri="{FF2B5EF4-FFF2-40B4-BE49-F238E27FC236}">
                <a16:creationId xmlns:a16="http://schemas.microsoft.com/office/drawing/2014/main" id="{24B22D04-9DCC-3C06-8D13-E0CD48ED25C3}"/>
              </a:ext>
            </a:extLst>
          </p:cNvPr>
          <p:cNvSpPr txBox="1"/>
          <p:nvPr/>
        </p:nvSpPr>
        <p:spPr>
          <a:xfrm>
            <a:off x="4786200" y="3837035"/>
            <a:ext cx="3905070" cy="2185214"/>
          </a:xfrm>
          <a:prstGeom prst="rect">
            <a:avLst/>
          </a:prstGeom>
          <a:noFill/>
        </p:spPr>
        <p:txBody>
          <a:bodyPr wrap="square" rtlCol="0">
            <a:spAutoFit/>
          </a:bodyPr>
          <a:lstStyle/>
          <a:p>
            <a:r>
              <a:rPr lang="en-US" sz="2800" b="1" dirty="0"/>
              <a:t>Data Coverage and Representation Issues</a:t>
            </a:r>
          </a:p>
          <a:p>
            <a:r>
              <a:rPr lang="en-US" sz="2000" dirty="0"/>
              <a:t>Uneven representation of states, districts, and cancer registries may distort proportional cancer burden estimates. </a:t>
            </a:r>
          </a:p>
        </p:txBody>
      </p:sp>
    </p:spTree>
    <p:extLst>
      <p:ext uri="{BB962C8B-B14F-4D97-AF65-F5344CB8AC3E}">
        <p14:creationId xmlns:p14="http://schemas.microsoft.com/office/powerpoint/2010/main" val="2396785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99136-F25F-0660-D5B6-36CB86D329A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F9BDB8D-0CC3-816A-B16F-99BE1B7CE8C3}"/>
              </a:ext>
            </a:extLst>
          </p:cNvPr>
          <p:cNvSpPr/>
          <p:nvPr/>
        </p:nvSpPr>
        <p:spPr>
          <a:xfrm>
            <a:off x="7731760" y="0"/>
            <a:ext cx="4460240" cy="6858000"/>
          </a:xfrm>
          <a:prstGeom prst="rect">
            <a:avLst/>
          </a:prstGeom>
          <a:gradFill flip="none" rotWithShape="1">
            <a:gsLst>
              <a:gs pos="0">
                <a:srgbClr val="FFC000"/>
              </a:gs>
              <a:gs pos="45000">
                <a:schemeClr val="accent4">
                  <a:lumMod val="60000"/>
                  <a:lumOff val="40000"/>
                </a:schemeClr>
              </a:gs>
              <a:gs pos="83000">
                <a:schemeClr val="bg1">
                  <a:lumMod val="95000"/>
                </a:schemeClr>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4EA5EE-FF27-6D4F-DE3C-856D8F384862}"/>
              </a:ext>
            </a:extLst>
          </p:cNvPr>
          <p:cNvSpPr>
            <a:spLocks noGrp="1"/>
          </p:cNvSpPr>
          <p:nvPr>
            <p:ph type="ctrTitle"/>
          </p:nvPr>
        </p:nvSpPr>
        <p:spPr>
          <a:xfrm>
            <a:off x="274320" y="929322"/>
            <a:ext cx="5821680" cy="1051877"/>
          </a:xfrm>
          <a:effectLst>
            <a:outerShdw blurRad="50800" dist="38100" dir="2700000" algn="tl" rotWithShape="0">
              <a:prstClr val="black">
                <a:alpha val="40000"/>
              </a:prstClr>
            </a:outerShdw>
          </a:effectLst>
        </p:spPr>
        <p:txBody>
          <a:bodyPr>
            <a:normAutofit fontScale="90000"/>
          </a:bodyPr>
          <a:lstStyle/>
          <a:p>
            <a:r>
              <a:rPr lang="en-US" sz="5400" dirty="0">
                <a:solidFill>
                  <a:schemeClr val="accent4"/>
                </a:solidFill>
                <a:latin typeface="Arial Black" panose="020B0A04020102020204" pitchFamily="34" charset="0"/>
                <a:ea typeface="+mn-ea"/>
                <a:cs typeface="+mn-cs"/>
              </a:rPr>
              <a:t>CONCLUSION</a:t>
            </a:r>
            <a:br>
              <a:rPr lang="en-US" dirty="0"/>
            </a:br>
            <a:endParaRPr lang="en-US" dirty="0"/>
          </a:p>
        </p:txBody>
      </p:sp>
      <p:sp>
        <p:nvSpPr>
          <p:cNvPr id="4" name="Rectangle 1">
            <a:extLst>
              <a:ext uri="{FF2B5EF4-FFF2-40B4-BE49-F238E27FC236}">
                <a16:creationId xmlns:a16="http://schemas.microsoft.com/office/drawing/2014/main" id="{B78704C9-2620-1D10-C83E-94998685DB45}"/>
              </a:ext>
            </a:extLst>
          </p:cNvPr>
          <p:cNvSpPr>
            <a:spLocks noGrp="1" noChangeArrowheads="1"/>
          </p:cNvSpPr>
          <p:nvPr>
            <p:ph type="subTitle" idx="1"/>
          </p:nvPr>
        </p:nvSpPr>
        <p:spPr bwMode="auto">
          <a:xfrm>
            <a:off x="698226" y="1177468"/>
            <a:ext cx="752403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The study reveals a highly uneven regional distribution of cancer cases in India, with the West, North, and South zones showing a significantly higher burden compared to Central and East zones.</a:t>
            </a:r>
            <a:endParaRPr lang="en-US" altLang="en-US" sz="1800" dirty="0"/>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Gender-wise analysis indicates an almost equal distribution of cancer cases among males and females, highlighting cancer as a broad public health issue requiring gender-inclusive prevention and treatment strategies.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Age-related patterns show higher incidence among younger and middle-aged adults, emphasizing the importance of early screening, awareness programs, and preventive lifestyle interventions.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Statistical tests confirm that cancer distribution is not random and is strongly associated with demographic and geographic factors such as zone, age, and gender.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Despite limitations related to secondary data and reporting variability, the findings offer valuable insights for healthcare planning, policy formulation, and future cancer control strategies in India.</a:t>
            </a:r>
          </a:p>
        </p:txBody>
      </p:sp>
      <p:pic>
        <p:nvPicPr>
          <p:cNvPr id="6" name="Picture 5">
            <a:extLst>
              <a:ext uri="{FF2B5EF4-FFF2-40B4-BE49-F238E27FC236}">
                <a16:creationId xmlns:a16="http://schemas.microsoft.com/office/drawing/2014/main" id="{24DA6822-9F62-127C-AA11-01CF6C9A2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6170" y="1177467"/>
            <a:ext cx="3329069" cy="5168903"/>
          </a:xfrm>
          <a:prstGeom prst="rect">
            <a:avLst/>
          </a:prstGeom>
        </p:spPr>
      </p:pic>
    </p:spTree>
    <p:extLst>
      <p:ext uri="{BB962C8B-B14F-4D97-AF65-F5344CB8AC3E}">
        <p14:creationId xmlns:p14="http://schemas.microsoft.com/office/powerpoint/2010/main" val="2462108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33F99-83D5-7FD2-4E74-D20342C5A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BE668-F2CD-04F4-B0B2-5595947E3F7C}"/>
              </a:ext>
            </a:extLst>
          </p:cNvPr>
          <p:cNvSpPr>
            <a:spLocks noGrp="1"/>
          </p:cNvSpPr>
          <p:nvPr>
            <p:ph type="ctrTitle"/>
          </p:nvPr>
        </p:nvSpPr>
        <p:spPr>
          <a:xfrm>
            <a:off x="6096000" y="974324"/>
            <a:ext cx="5312780" cy="1027514"/>
          </a:xfrm>
          <a:effectLst>
            <a:outerShdw blurRad="50800" dist="38100" dir="2700000" algn="tl" rotWithShape="0">
              <a:prstClr val="black">
                <a:alpha val="40000"/>
              </a:prstClr>
            </a:outerShdw>
          </a:effectLst>
        </p:spPr>
        <p:txBody>
          <a:bodyPr>
            <a:normAutofit fontScale="90000"/>
          </a:bodyPr>
          <a:lstStyle/>
          <a:p>
            <a:r>
              <a:rPr lang="en-US" sz="4900" dirty="0">
                <a:solidFill>
                  <a:schemeClr val="accent4"/>
                </a:solidFill>
                <a:latin typeface="Arial Black" panose="020B0A04020102020204" pitchFamily="34" charset="0"/>
                <a:ea typeface="+mn-ea"/>
                <a:cs typeface="+mn-cs"/>
              </a:rPr>
              <a:t>REFERENCES</a:t>
            </a:r>
            <a:br>
              <a:rPr lang="en-US" dirty="0"/>
            </a:br>
            <a:endParaRPr lang="en-US" dirty="0"/>
          </a:p>
        </p:txBody>
      </p:sp>
      <p:sp>
        <p:nvSpPr>
          <p:cNvPr id="4" name="Rectangle 3">
            <a:extLst>
              <a:ext uri="{FF2B5EF4-FFF2-40B4-BE49-F238E27FC236}">
                <a16:creationId xmlns:a16="http://schemas.microsoft.com/office/drawing/2014/main" id="{94C161A8-4DF3-EF13-95D4-518B30A8B2BB}"/>
              </a:ext>
            </a:extLst>
          </p:cNvPr>
          <p:cNvSpPr/>
          <p:nvPr/>
        </p:nvSpPr>
        <p:spPr>
          <a:xfrm>
            <a:off x="0" y="0"/>
            <a:ext cx="4460240" cy="6858000"/>
          </a:xfrm>
          <a:prstGeom prst="rect">
            <a:avLst/>
          </a:prstGeom>
          <a:gradFill flip="none" rotWithShape="1">
            <a:gsLst>
              <a:gs pos="0">
                <a:srgbClr val="FFC000"/>
              </a:gs>
              <a:gs pos="45000">
                <a:schemeClr val="accent4">
                  <a:lumMod val="60000"/>
                  <a:lumOff val="40000"/>
                </a:schemeClr>
              </a:gs>
              <a:gs pos="83000">
                <a:schemeClr val="bg1">
                  <a:lumMod val="95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08FEFF0-43C0-1079-C9AF-A22B493A63A6}"/>
              </a:ext>
            </a:extLst>
          </p:cNvPr>
          <p:cNvSpPr txBox="1"/>
          <p:nvPr/>
        </p:nvSpPr>
        <p:spPr>
          <a:xfrm>
            <a:off x="4713514" y="1435100"/>
            <a:ext cx="6957786" cy="4985980"/>
          </a:xfrm>
          <a:prstGeom prst="rect">
            <a:avLst/>
          </a:prstGeom>
          <a:noFill/>
        </p:spPr>
        <p:txBody>
          <a:bodyPr wrap="square" rtlCol="0">
            <a:spAutoFit/>
          </a:bodyPr>
          <a:lstStyle/>
          <a:p>
            <a:pPr marL="285750" lvl="0" indent="-285750">
              <a:buFont typeface="Arial" panose="020B0604020202020204" pitchFamily="34" charset="0"/>
              <a:buChar char="•"/>
            </a:pPr>
            <a:r>
              <a:rPr lang="en-IN" sz="2000" dirty="0"/>
              <a:t>Gupta, S.C. and Kapoor, V.K. (2021), 13</a:t>
            </a:r>
            <a:r>
              <a:rPr lang="en-IN" sz="2000" baseline="30000" dirty="0"/>
              <a:t>th</a:t>
            </a:r>
            <a:r>
              <a:rPr lang="en-IN" sz="2000" dirty="0"/>
              <a:t> edition, Fundamentals of Mathematical Statistics, Sultan Chand &amp; Sons, p.15.3</a:t>
            </a:r>
          </a:p>
          <a:p>
            <a:pPr marL="285750" lvl="0" indent="-285750">
              <a:buFont typeface="Arial" panose="020B0604020202020204" pitchFamily="34" charset="0"/>
              <a:buChar char="•"/>
            </a:pPr>
            <a:r>
              <a:rPr lang="en-IN" sz="2000" dirty="0"/>
              <a:t>Casella, George and Berger, Roger L. (2007). 2</a:t>
            </a:r>
            <a:r>
              <a:rPr lang="en-IN" sz="2000" baseline="30000" dirty="0"/>
              <a:t>nd</a:t>
            </a:r>
            <a:r>
              <a:rPr lang="en-IN" sz="2000" dirty="0"/>
              <a:t> edition, Statistical Inference, Cengage India Private Limited</a:t>
            </a:r>
          </a:p>
          <a:p>
            <a:pPr marL="285750" lvl="0" indent="-285750">
              <a:buFont typeface="Arial" panose="020B0604020202020204" pitchFamily="34" charset="0"/>
              <a:buChar char="•"/>
            </a:pPr>
            <a:r>
              <a:rPr lang="en-IN" sz="2000" dirty="0"/>
              <a:t>Gun, A.M, Gupta, M.K., and Dasgupta, B. (2019), 3</a:t>
            </a:r>
            <a:r>
              <a:rPr lang="en-IN" sz="2000" baseline="30000" dirty="0"/>
              <a:t>rd</a:t>
            </a:r>
            <a:r>
              <a:rPr lang="en-IN" sz="2000" dirty="0"/>
              <a:t> Edition, Fundamentals of Statistics. World Press Private Limited. P. 303, 11.4 – correlation coefficient </a:t>
            </a:r>
          </a:p>
          <a:p>
            <a:pPr marL="285750" lvl="0" indent="-285750">
              <a:buFont typeface="Arial" panose="020B0604020202020204" pitchFamily="34" charset="0"/>
              <a:buChar char="•"/>
            </a:pPr>
            <a:r>
              <a:rPr lang="en-IN" sz="2000" dirty="0"/>
              <a:t>Gupta, S.C. and Kapoor, V.K. (2021), 14</a:t>
            </a:r>
            <a:r>
              <a:rPr lang="en-IN" sz="2000" baseline="30000" dirty="0"/>
              <a:t>th</a:t>
            </a:r>
            <a:r>
              <a:rPr lang="en-IN" sz="2000" dirty="0"/>
              <a:t> edition, Fundamentals of Applied Statistics, Sultan Chand &amp; Sons, Hypothesis Testing, p.18.2</a:t>
            </a:r>
          </a:p>
          <a:p>
            <a:pPr marL="285750" lvl="0" indent="-285750">
              <a:buFont typeface="Arial" panose="020B0604020202020204" pitchFamily="34" charset="0"/>
              <a:buChar char="•"/>
            </a:pPr>
            <a:r>
              <a:rPr lang="en-IN" sz="2000" u="sng" dirty="0">
                <a:hlinkClick r:id="rId2"/>
              </a:rPr>
              <a:t>https://ncdirindia.org/All_Reports/</a:t>
            </a:r>
            <a:endParaRPr lang="en-IN" sz="2000" dirty="0"/>
          </a:p>
          <a:p>
            <a:pPr marL="285750" lvl="0" indent="-285750">
              <a:buFont typeface="Arial" panose="020B0604020202020204" pitchFamily="34" charset="0"/>
              <a:buChar char="•"/>
            </a:pPr>
            <a:r>
              <a:rPr lang="en-IN" sz="2000" dirty="0"/>
              <a:t>Mathur P., Sathishkumar K., Das P., (Article)  </a:t>
            </a:r>
            <a:r>
              <a:rPr lang="en-IN" sz="2000" u="sng" dirty="0">
                <a:hlinkClick r:id="rId3"/>
              </a:rPr>
              <a:t>https://pmc.ncbi.nlm.nih.gov/articles/PMC12368690/</a:t>
            </a:r>
            <a:r>
              <a:rPr lang="en-IN" sz="2000" dirty="0"/>
              <a:t> (Updated – Jun 11, 2025) Visited on Dec 16, 2025 at 12:38 p.m.</a:t>
            </a:r>
          </a:p>
          <a:p>
            <a:endParaRPr lang="en-IN" dirty="0"/>
          </a:p>
        </p:txBody>
      </p:sp>
      <p:pic>
        <p:nvPicPr>
          <p:cNvPr id="6" name="Picture 5">
            <a:extLst>
              <a:ext uri="{FF2B5EF4-FFF2-40B4-BE49-F238E27FC236}">
                <a16:creationId xmlns:a16="http://schemas.microsoft.com/office/drawing/2014/main" id="{ACB61E36-106D-36E7-FF74-898CA9BBB7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172" y="538561"/>
            <a:ext cx="3501571" cy="2498553"/>
          </a:xfrm>
          <a:prstGeom prst="rect">
            <a:avLst/>
          </a:prstGeom>
        </p:spPr>
      </p:pic>
      <p:pic>
        <p:nvPicPr>
          <p:cNvPr id="8" name="Picture 7">
            <a:extLst>
              <a:ext uri="{FF2B5EF4-FFF2-40B4-BE49-F238E27FC236}">
                <a16:creationId xmlns:a16="http://schemas.microsoft.com/office/drawing/2014/main" id="{F4294F3E-CBAA-FC57-8AC9-98E928764D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554" y="3362585"/>
            <a:ext cx="3468190" cy="2873829"/>
          </a:xfrm>
          <a:prstGeom prst="rect">
            <a:avLst/>
          </a:prstGeom>
        </p:spPr>
      </p:pic>
    </p:spTree>
    <p:extLst>
      <p:ext uri="{BB962C8B-B14F-4D97-AF65-F5344CB8AC3E}">
        <p14:creationId xmlns:p14="http://schemas.microsoft.com/office/powerpoint/2010/main" val="1160380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E8608-A2B4-23B2-76A6-AB3A8436270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490E519-9AA1-D35A-D6DB-6714AB242E89}"/>
              </a:ext>
            </a:extLst>
          </p:cNvPr>
          <p:cNvPicPr>
            <a:picLocks noChangeAspect="1"/>
          </p:cNvPicPr>
          <p:nvPr/>
        </p:nvPicPr>
        <p:blipFill>
          <a:blip r:embed="rId2"/>
          <a:stretch>
            <a:fillRect/>
          </a:stretch>
        </p:blipFill>
        <p:spPr>
          <a:xfrm>
            <a:off x="3030414" y="494744"/>
            <a:ext cx="5915851" cy="5382376"/>
          </a:xfrm>
          <a:prstGeom prst="rect">
            <a:avLst/>
          </a:prstGeom>
        </p:spPr>
      </p:pic>
    </p:spTree>
    <p:extLst>
      <p:ext uri="{BB962C8B-B14F-4D97-AF65-F5344CB8AC3E}">
        <p14:creationId xmlns:p14="http://schemas.microsoft.com/office/powerpoint/2010/main" val="32342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691</TotalTime>
  <Words>2464</Words>
  <Application>Microsoft Office PowerPoint</Application>
  <PresentationFormat>Widescreen</PresentationFormat>
  <Paragraphs>502</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Black</vt:lpstr>
      <vt:lpstr>Berlin Sans FB Demi</vt:lpstr>
      <vt:lpstr>Calibri</vt:lpstr>
      <vt:lpstr>Calibri Light</vt:lpstr>
      <vt:lpstr>Cambria Math</vt:lpstr>
      <vt:lpstr>Office Theme</vt:lpstr>
      <vt:lpstr>PowerPoint Presentation</vt:lpstr>
      <vt:lpstr>PowerPoint Presentation</vt:lpstr>
      <vt:lpstr>INDEX </vt:lpstr>
      <vt:lpstr>PowerPoint Presentation</vt:lpstr>
      <vt:lpstr>PowerPoint Presentation</vt:lpstr>
      <vt:lpstr>OBJECTIVE OF STUDY </vt:lpstr>
      <vt:lpstr>METHODOLOGY</vt:lpstr>
      <vt:lpstr>PowerPoint Presentation</vt:lpstr>
      <vt:lpstr>GRAPHICAL  REPRESENTATION </vt:lpstr>
      <vt:lpstr>Gender most at risk of developing cancer </vt:lpstr>
      <vt:lpstr>Zone with the highest incidence of cancer cases in India</vt:lpstr>
      <vt:lpstr>Age group highly prone to cancer  </vt:lpstr>
      <vt:lpstr>Region wise gender analysis of cancer patients  </vt:lpstr>
      <vt:lpstr>HYPOTHESIS </vt:lpstr>
      <vt:lpstr>1. To analyze whether gender plays a role in the number of cancers cases in India.  H0 (Null Hypothesis) There is no difference between the cancer cases of males and females  H1 (Alternative Hypothesis) There is a difference between the cancer cases of males and females  The chi-square test statistics at α=0.05 and degree of freedom= 5 is given by:   ꭓ2 = ∑((Observed Frequency-Expected Frequency)^2)/(Expected Frequency)    </vt:lpstr>
      <vt:lpstr> Using the formula the value we calculate the value of χ2 calculated = 55121.49618  Using the χ2 table, we get:  χ2 tabulated= 11.07  Conclusion: Since χ2 tabulated is less than χ2 calculated that is 11.07 &lt; 55121.49618. Thus, we reject the null hypothesis (H0).  Hence, there is a difference between the cancer cases of males and females. </vt:lpstr>
      <vt:lpstr>2. To assess whether geographical zone of residence influences the probability of individuals being diagnosed cancer positive.  </vt:lpstr>
      <vt:lpstr>3. To analyze the age group most at risk of developing cancer.  </vt:lpstr>
      <vt:lpstr>RESULT AND  DISCUSSION </vt:lpstr>
      <vt:lpstr>LIMITATION </vt:lpstr>
      <vt:lpstr>CONCLUSION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 Dhari Singh</dc:creator>
  <cp:lastModifiedBy>sneha kumari</cp:lastModifiedBy>
  <cp:revision>26</cp:revision>
  <dcterms:created xsi:type="dcterms:W3CDTF">2026-01-03T08:19:14Z</dcterms:created>
  <dcterms:modified xsi:type="dcterms:W3CDTF">2026-01-06T07:31:08Z</dcterms:modified>
</cp:coreProperties>
</file>